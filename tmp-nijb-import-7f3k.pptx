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2.png"/><Relationship Id="rId8" Type="http://schemas.openxmlformats.org/officeDocument/2006/relationships/image" Target="../media/image-7-3.png"/><Relationship Id="rId9" Type="http://schemas.openxmlformats.org/officeDocument/2006/relationships/image" Target="../media/image-7-4.png"/><Relationship Id="rId10" Type="http://schemas.openxmlformats.org/officeDocument/2006/relationships/image" Target="../media/image-7-5.png"/><Relationship Id="rId11" Type="http://schemas.openxmlformats.org/officeDocument/2006/relationships/image" Target="../media/image-7-6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2.png"/><Relationship Id="rId4" Type="http://schemas.openxmlformats.org/officeDocument/2006/relationships/image" Target="../media/image-17-2.png"/><Relationship Id="rId5" Type="http://schemas.openxmlformats.org/officeDocument/2006/relationships/image" Target="../media/image-17-2.png"/><Relationship Id="rId6" Type="http://schemas.openxmlformats.org/officeDocument/2006/relationships/image" Target="../media/image-17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jpe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tão da capa"/>
          <p:cNvSpPr/>
          <p:nvPr/>
        </p:nvSpPr>
        <p:spPr>
          <a:xfrm>
            <a:off x="640080" y="1097280"/>
            <a:ext cx="6766560" cy="4663440"/>
          </a:xfrm>
          <a:prstGeom prst="roundRect">
            <a:avLst>
              <a:gd name="adj" fmla="val 6863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3" name="Etiqueta"/>
          <p:cNvSpPr/>
          <p:nvPr/>
        </p:nvSpPr>
        <p:spPr>
          <a:xfrm>
            <a:off x="1005840" y="1463040"/>
            <a:ext cx="2651760" cy="329184"/>
          </a:xfrm>
          <a:prstGeom prst="roundRect">
            <a:avLst>
              <a:gd name="adj" fmla="val 5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4630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63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ESTUDO DE CASO · UI/UX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0116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ifs,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7432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just good butts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8404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NIJB: uma app de fitness privada, só para mulheres. Treino, alimentação, medidas e progresso num só sítio.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50749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[O teu nome] · Design de produto e marketing</a:t>
            </a:r>
            <a:endParaRPr lang="en-US" sz="1200" dirty="0"/>
          </a:p>
        </p:txBody>
      </p:sp>
      <p:pic>
        <p:nvPicPr>
          <p:cNvPr id="9" name="Image 0" descr="Captura de ecrã da app: log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502920"/>
            <a:ext cx="290007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ÍNDICE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vais ver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ecção"/>
          <p:cNvSpPr/>
          <p:nvPr/>
        </p:nvSpPr>
        <p:spPr>
          <a:xfrm>
            <a:off x="640080" y="1645920"/>
            <a:ext cx="5303520" cy="960120"/>
          </a:xfrm>
          <a:prstGeom prst="roundRect">
            <a:avLst>
              <a:gd name="adj" fmla="val 20952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7" name="Ícone"/>
          <p:cNvSpPr/>
          <p:nvPr/>
        </p:nvSpPr>
        <p:spPr>
          <a:xfrm>
            <a:off x="822960" y="182880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8" name="Image 0" descr="targ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19" y="1959559"/>
            <a:ext cx="332842" cy="3328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020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 O contexto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600200" y="21214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 quem, o problema e os requisitos</a:t>
            </a:r>
            <a:endParaRPr lang="en-US" sz="1200" dirty="0"/>
          </a:p>
        </p:txBody>
      </p:sp>
      <p:sp>
        <p:nvSpPr>
          <p:cNvPr id="11" name="Secção"/>
          <p:cNvSpPr/>
          <p:nvPr/>
        </p:nvSpPr>
        <p:spPr>
          <a:xfrm>
            <a:off x="6217920" y="1645920"/>
            <a:ext cx="5303520" cy="960120"/>
          </a:xfrm>
          <a:prstGeom prst="roundRect">
            <a:avLst>
              <a:gd name="adj" fmla="val 20952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2" name="Ícone"/>
          <p:cNvSpPr/>
          <p:nvPr/>
        </p:nvSpPr>
        <p:spPr>
          <a:xfrm>
            <a:off x="6400800" y="182880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13" name="Image 1" descr="dumbbel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559" y="195955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17804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 A solução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178040" y="21214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 5 abas, uma a uma, com ecrãs reais</a:t>
            </a:r>
            <a:endParaRPr lang="en-US" sz="1200" dirty="0"/>
          </a:p>
        </p:txBody>
      </p:sp>
      <p:sp>
        <p:nvSpPr>
          <p:cNvPr id="16" name="Secção"/>
          <p:cNvSpPr/>
          <p:nvPr/>
        </p:nvSpPr>
        <p:spPr>
          <a:xfrm>
            <a:off x="640080" y="2788920"/>
            <a:ext cx="5303520" cy="960120"/>
          </a:xfrm>
          <a:prstGeom prst="roundRect">
            <a:avLst>
              <a:gd name="adj" fmla="val 20952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7" name="Ícone"/>
          <p:cNvSpPr/>
          <p:nvPr/>
        </p:nvSpPr>
        <p:spPr>
          <a:xfrm>
            <a:off x="822960" y="297180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18" name="Image 2" descr="drople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719" y="3102559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600200" y="2898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 O ciclo menstrual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1600200" y="32644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Fases, o que esperar em cada dia</a:t>
            </a:r>
            <a:endParaRPr lang="en-US" sz="1200" dirty="0"/>
          </a:p>
        </p:txBody>
      </p:sp>
      <p:sp>
        <p:nvSpPr>
          <p:cNvPr id="21" name="Secção"/>
          <p:cNvSpPr/>
          <p:nvPr/>
        </p:nvSpPr>
        <p:spPr>
          <a:xfrm>
            <a:off x="6217920" y="2788920"/>
            <a:ext cx="5303520" cy="960120"/>
          </a:xfrm>
          <a:prstGeom prst="roundRect">
            <a:avLst>
              <a:gd name="adj" fmla="val 20952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2" name="Ícone"/>
          <p:cNvSpPr/>
          <p:nvPr/>
        </p:nvSpPr>
        <p:spPr>
          <a:xfrm>
            <a:off x="6400800" y="297180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23" name="Image 3" descr="sparkl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1559" y="3102559"/>
            <a:ext cx="332842" cy="33284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178040" y="2898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 A identidade visual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7178040" y="32644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Cores, tipografia e ícones</a:t>
            </a:r>
            <a:endParaRPr lang="en-US" sz="1200" dirty="0"/>
          </a:p>
        </p:txBody>
      </p:sp>
      <p:sp>
        <p:nvSpPr>
          <p:cNvPr id="26" name="Secção"/>
          <p:cNvSpPr/>
          <p:nvPr/>
        </p:nvSpPr>
        <p:spPr>
          <a:xfrm>
            <a:off x="640080" y="3931920"/>
            <a:ext cx="5303520" cy="960120"/>
          </a:xfrm>
          <a:prstGeom prst="roundRect">
            <a:avLst>
              <a:gd name="adj" fmla="val 20952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7" name="Ícone"/>
          <p:cNvSpPr/>
          <p:nvPr/>
        </p:nvSpPr>
        <p:spPr>
          <a:xfrm>
            <a:off x="822960" y="411480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28" name="Image 4" descr="penci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719" y="4245559"/>
            <a:ext cx="332842" cy="33284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600200" y="4041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 As decisões de UX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1600200" y="44074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mudou e porquê</a:t>
            </a:r>
            <a:endParaRPr lang="en-US" sz="1200" dirty="0"/>
          </a:p>
        </p:txBody>
      </p:sp>
      <p:sp>
        <p:nvSpPr>
          <p:cNvPr id="31" name="Secção"/>
          <p:cNvSpPr/>
          <p:nvPr/>
        </p:nvSpPr>
        <p:spPr>
          <a:xfrm>
            <a:off x="6217920" y="3931920"/>
            <a:ext cx="5303520" cy="960120"/>
          </a:xfrm>
          <a:prstGeom prst="roundRect">
            <a:avLst>
              <a:gd name="adj" fmla="val 20952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32" name="Ícone"/>
          <p:cNvSpPr/>
          <p:nvPr/>
        </p:nvSpPr>
        <p:spPr>
          <a:xfrm>
            <a:off x="6400800" y="411480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33" name="Image 5" descr="us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1559" y="4245559"/>
            <a:ext cx="332842" cy="33284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178040" y="4041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 O processo e a IA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7178040" y="44074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meu papel e o da IA</a:t>
            </a:r>
            <a:endParaRPr lang="en-US" sz="1200" dirty="0"/>
          </a:p>
        </p:txBody>
      </p:sp>
      <p:sp>
        <p:nvSpPr>
          <p:cNvPr id="36" name="Secção"/>
          <p:cNvSpPr/>
          <p:nvPr/>
        </p:nvSpPr>
        <p:spPr>
          <a:xfrm>
            <a:off x="640080" y="5074920"/>
            <a:ext cx="5303520" cy="960120"/>
          </a:xfrm>
          <a:prstGeom prst="roundRect">
            <a:avLst>
              <a:gd name="adj" fmla="val 20952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37" name="Ícone"/>
          <p:cNvSpPr/>
          <p:nvPr/>
        </p:nvSpPr>
        <p:spPr>
          <a:xfrm>
            <a:off x="822960" y="525780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38" name="Image 6" descr="trend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3719" y="5388559"/>
            <a:ext cx="332842" cy="332842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600200" y="5184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 O impacto</a:t>
            </a:r>
            <a:endParaRPr lang="en-US" sz="1600" dirty="0"/>
          </a:p>
        </p:txBody>
      </p:sp>
      <p:sp>
        <p:nvSpPr>
          <p:cNvPr id="40" name="Text 31"/>
          <p:cNvSpPr txBox="1"/>
          <p:nvPr/>
        </p:nvSpPr>
        <p:spPr>
          <a:xfrm>
            <a:off x="1600200" y="55504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Feedback real, resultados, aprendizagens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 RESUMO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Criada a partir de uma necessidade real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544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é uma app de fitness privada, só para mulheres, que criei a partir das minhas próprias necessidades e ideias, sem experiência prévia em programação e com o apoio do Claude Code. Na app o nome aparece como "Just Butts".</a:t>
            </a:r>
            <a:endParaRPr lang="en-US" sz="1600" dirty="0"/>
          </a:p>
        </p:txBody>
      </p:sp>
      <p:sp>
        <p:nvSpPr>
          <p:cNvPr id="7" name="Cartão"/>
          <p:cNvSpPr/>
          <p:nvPr/>
        </p:nvSpPr>
        <p:spPr>
          <a:xfrm>
            <a:off x="640080" y="2834640"/>
            <a:ext cx="2560320" cy="3108960"/>
          </a:xfrm>
          <a:prstGeom prst="roundRect">
            <a:avLst>
              <a:gd name="adj" fmla="val 7857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8" name="Ícone"/>
          <p:cNvSpPr/>
          <p:nvPr/>
        </p:nvSpPr>
        <p:spPr>
          <a:xfrm>
            <a:off x="868680" y="306324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pic>
        <p:nvPicPr>
          <p:cNvPr id="9" name="Image 0" descr="us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498" y="3204058"/>
            <a:ext cx="358445" cy="35844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68680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 quem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34340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Mulheres entre os 25 e os 65 anos, em especial quem está a começar no ginásio.</a:t>
            </a:r>
            <a:endParaRPr lang="en-US" sz="1300" dirty="0"/>
          </a:p>
        </p:txBody>
      </p:sp>
      <p:sp>
        <p:nvSpPr>
          <p:cNvPr id="12" name="Cartão"/>
          <p:cNvSpPr/>
          <p:nvPr/>
        </p:nvSpPr>
        <p:spPr>
          <a:xfrm>
            <a:off x="3383280" y="2834640"/>
            <a:ext cx="2560320" cy="3108960"/>
          </a:xfrm>
          <a:prstGeom prst="roundRect">
            <a:avLst>
              <a:gd name="adj" fmla="val 7857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3" name="Ícone"/>
          <p:cNvSpPr/>
          <p:nvPr/>
        </p:nvSpPr>
        <p:spPr>
          <a:xfrm>
            <a:off x="3611880" y="306324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pic>
        <p:nvPicPr>
          <p:cNvPr id="14" name="Image 1" descr="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698" y="3204058"/>
            <a:ext cx="358445" cy="35844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611880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Acesso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3611880" y="434340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Só por convite. Cada utilizadora vê apenas os seus próprios dados.</a:t>
            </a:r>
            <a:endParaRPr lang="en-US" sz="1300" dirty="0"/>
          </a:p>
        </p:txBody>
      </p:sp>
      <p:sp>
        <p:nvSpPr>
          <p:cNvPr id="17" name="Cartão"/>
          <p:cNvSpPr/>
          <p:nvPr/>
        </p:nvSpPr>
        <p:spPr>
          <a:xfrm>
            <a:off x="6126480" y="2834640"/>
            <a:ext cx="2560320" cy="3108960"/>
          </a:xfrm>
          <a:prstGeom prst="roundRect">
            <a:avLst>
              <a:gd name="adj" fmla="val 7857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8" name="Ícone"/>
          <p:cNvSpPr/>
          <p:nvPr/>
        </p:nvSpPr>
        <p:spPr>
          <a:xfrm>
            <a:off x="6355080" y="306324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FBDCC4"/>
          </a:solidFill>
          <a:ln w="12700">
            <a:solidFill>
              <a:srgbClr val="FBDCC4">
                <a:alpha val="0"/>
              </a:srgbClr>
            </a:solidFill>
            <a:prstDash val="solid"/>
          </a:ln>
        </p:spPr>
      </p:sp>
      <p:pic>
        <p:nvPicPr>
          <p:cNvPr id="19" name="Image 2" descr="aler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898" y="3204058"/>
            <a:ext cx="358445" cy="35844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355080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problema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6355080" y="434340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Treinar no ginásio pode ser confuso e intimidante.</a:t>
            </a:r>
            <a:endParaRPr lang="en-US" sz="1300" dirty="0"/>
          </a:p>
        </p:txBody>
      </p:sp>
      <p:sp>
        <p:nvSpPr>
          <p:cNvPr id="22" name="Cartão"/>
          <p:cNvSpPr/>
          <p:nvPr/>
        </p:nvSpPr>
        <p:spPr>
          <a:xfrm>
            <a:off x="8869680" y="2834640"/>
            <a:ext cx="2560320" cy="3108960"/>
          </a:xfrm>
          <a:prstGeom prst="roundRect">
            <a:avLst>
              <a:gd name="adj" fmla="val 7857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3" name="Ícone"/>
          <p:cNvSpPr/>
          <p:nvPr/>
        </p:nvSpPr>
        <p:spPr>
          <a:xfrm>
            <a:off x="9098280" y="306324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pic>
        <p:nvPicPr>
          <p:cNvPr id="24" name="Image 3" descr="sparkl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098" y="3204058"/>
            <a:ext cx="358445" cy="35844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098280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solução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9098280" y="434340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Treino, alimentação, medidas, progresso e perfil na mesma app, com uma identidade divertida.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640080" y="6080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Cinco utilizadoras já usaram a app. Os resultados são qualitativos e iniciais, não um estudo formal.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CONTEXTO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problema: um ginásio intimidante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Dificuldade"/>
          <p:cNvSpPr/>
          <p:nvPr/>
        </p:nvSpPr>
        <p:spPr>
          <a:xfrm>
            <a:off x="640080" y="1645920"/>
            <a:ext cx="3474720" cy="1874520"/>
          </a:xfrm>
          <a:prstGeom prst="roundRect">
            <a:avLst>
              <a:gd name="adj" fmla="val 10732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7" name="Ícone"/>
          <p:cNvSpPr/>
          <p:nvPr/>
        </p:nvSpPr>
        <p:spPr>
          <a:xfrm>
            <a:off x="868680" y="187452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pic>
        <p:nvPicPr>
          <p:cNvPr id="8" name="Image 0" descr="calend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498" y="2015338"/>
            <a:ext cx="358445" cy="35844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91640" y="1920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saber o que fazer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6974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 exercícios fazer e em que ordem.</a:t>
            </a:r>
            <a:endParaRPr lang="en-US" sz="1300" dirty="0"/>
          </a:p>
        </p:txBody>
      </p:sp>
      <p:sp>
        <p:nvSpPr>
          <p:cNvPr id="11" name="Dificuldade"/>
          <p:cNvSpPr/>
          <p:nvPr/>
        </p:nvSpPr>
        <p:spPr>
          <a:xfrm>
            <a:off x="4297680" y="1645920"/>
            <a:ext cx="3474720" cy="1874520"/>
          </a:xfrm>
          <a:prstGeom prst="roundRect">
            <a:avLst>
              <a:gd name="adj" fmla="val 10732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2" name="Ícone"/>
          <p:cNvSpPr/>
          <p:nvPr/>
        </p:nvSpPr>
        <p:spPr>
          <a:xfrm>
            <a:off x="4526280" y="187452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pic>
        <p:nvPicPr>
          <p:cNvPr id="13" name="Image 1" descr="penci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098" y="2015338"/>
            <a:ext cx="358445" cy="35844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49240" y="1920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recordar as cargas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26974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Séries, repetições e peso da última vez.</a:t>
            </a:r>
            <a:endParaRPr lang="en-US" sz="1300" dirty="0"/>
          </a:p>
        </p:txBody>
      </p:sp>
      <p:sp>
        <p:nvSpPr>
          <p:cNvPr id="16" name="Dificuldade"/>
          <p:cNvSpPr/>
          <p:nvPr/>
        </p:nvSpPr>
        <p:spPr>
          <a:xfrm>
            <a:off x="7955280" y="1645920"/>
            <a:ext cx="3474720" cy="1874520"/>
          </a:xfrm>
          <a:prstGeom prst="roundRect">
            <a:avLst>
              <a:gd name="adj" fmla="val 10732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7" name="Ícone"/>
          <p:cNvSpPr/>
          <p:nvPr/>
        </p:nvSpPr>
        <p:spPr>
          <a:xfrm>
            <a:off x="8183880" y="187452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FBDCC4"/>
          </a:solidFill>
          <a:ln w="12700">
            <a:solidFill>
              <a:srgbClr val="FBDCC4">
                <a:alpha val="0"/>
              </a:srgbClr>
            </a:solidFill>
            <a:prstDash val="solid"/>
          </a:ln>
        </p:spPr>
      </p:sp>
      <p:pic>
        <p:nvPicPr>
          <p:cNvPr id="18" name="Image 2" descr="tim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4698" y="2015338"/>
            <a:ext cx="358445" cy="35844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06840" y="1920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Perder tempo a decidir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183880" y="26974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Decisões a meio do treino, entre séries.</a:t>
            </a:r>
            <a:endParaRPr lang="en-US" sz="1300" dirty="0"/>
          </a:p>
        </p:txBody>
      </p:sp>
      <p:sp>
        <p:nvSpPr>
          <p:cNvPr id="21" name="Dificuldade"/>
          <p:cNvSpPr/>
          <p:nvPr/>
        </p:nvSpPr>
        <p:spPr>
          <a:xfrm>
            <a:off x="640080" y="3749040"/>
            <a:ext cx="3474720" cy="1874520"/>
          </a:xfrm>
          <a:prstGeom prst="roundRect">
            <a:avLst>
              <a:gd name="adj" fmla="val 10732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2" name="Ícone"/>
          <p:cNvSpPr/>
          <p:nvPr/>
        </p:nvSpPr>
        <p:spPr>
          <a:xfrm>
            <a:off x="868680" y="397764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pic>
        <p:nvPicPr>
          <p:cNvPr id="23" name="Image 3" descr="tren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498" y="4118458"/>
            <a:ext cx="358445" cy="35844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91640" y="4023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Difícil ver a evolução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868680" y="48006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 registo, não se vê o progresso.</a:t>
            </a:r>
            <a:endParaRPr lang="en-US" sz="1300" dirty="0"/>
          </a:p>
        </p:txBody>
      </p:sp>
      <p:sp>
        <p:nvSpPr>
          <p:cNvPr id="26" name="Dificuldade"/>
          <p:cNvSpPr/>
          <p:nvPr/>
        </p:nvSpPr>
        <p:spPr>
          <a:xfrm>
            <a:off x="4297680" y="3749040"/>
            <a:ext cx="3474720" cy="1874520"/>
          </a:xfrm>
          <a:prstGeom prst="roundRect">
            <a:avLst>
              <a:gd name="adj" fmla="val 10732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7" name="Ícone"/>
          <p:cNvSpPr/>
          <p:nvPr/>
        </p:nvSpPr>
        <p:spPr>
          <a:xfrm>
            <a:off x="4526280" y="397764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pic>
        <p:nvPicPr>
          <p:cNvPr id="28" name="Image 4" descr="boo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7098" y="4118458"/>
            <a:ext cx="358445" cy="35844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49240" y="4023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Tudo em sítios diferentes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4526280" y="48006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Treino, alimentação e medidas espalhados.</a:t>
            </a:r>
            <a:endParaRPr lang="en-US" sz="1300" dirty="0"/>
          </a:p>
        </p:txBody>
      </p:sp>
      <p:sp>
        <p:nvSpPr>
          <p:cNvPr id="31" name="Dificuldade"/>
          <p:cNvSpPr/>
          <p:nvPr/>
        </p:nvSpPr>
        <p:spPr>
          <a:xfrm>
            <a:off x="7955280" y="3749040"/>
            <a:ext cx="3474720" cy="1874520"/>
          </a:xfrm>
          <a:prstGeom prst="roundRect">
            <a:avLst>
              <a:gd name="adj" fmla="val 10732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32" name="Ícone"/>
          <p:cNvSpPr/>
          <p:nvPr/>
        </p:nvSpPr>
        <p:spPr>
          <a:xfrm>
            <a:off x="8183880" y="397764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pic>
        <p:nvPicPr>
          <p:cNvPr id="33" name="Image 5" descr="targe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4698" y="4118458"/>
            <a:ext cx="358445" cy="35844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006840" y="4023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Falta de motivação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8183880" y="48006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 um objetivo claro, é fácil desistir.</a:t>
            </a:r>
            <a:endParaRPr lang="en-US" sz="1300" dirty="0"/>
          </a:p>
        </p:txBody>
      </p:sp>
      <p:sp>
        <p:nvSpPr>
          <p:cNvPr id="36" name="Text 28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Para quem está a começar, cada uma destas dificuldades é um motivo para não voltar.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CONTEXTO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pergunta central e os requisitos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Pergunta central"/>
          <p:cNvSpPr/>
          <p:nvPr/>
        </p:nvSpPr>
        <p:spPr>
          <a:xfrm>
            <a:off x="640080" y="1554480"/>
            <a:ext cx="10881360" cy="1371600"/>
          </a:xfrm>
          <a:prstGeom prst="roundRect">
            <a:avLst>
              <a:gd name="adj" fmla="val 14667"/>
            </a:avLst>
          </a:prstGeom>
          <a:solidFill>
            <a:srgbClr val="D9CFF0">
              <a:alpha val="6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7" name="Ícone"/>
          <p:cNvSpPr/>
          <p:nvPr/>
        </p:nvSpPr>
        <p:spPr>
          <a:xfrm>
            <a:off x="914400" y="192024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FFFDFB"/>
          </a:solidFill>
          <a:ln w="12700">
            <a:solidFill>
              <a:srgbClr val="FFFDFB">
                <a:alpha val="0"/>
              </a:srgbClr>
            </a:solidFill>
            <a:prstDash val="solid"/>
          </a:ln>
        </p:spPr>
      </p:sp>
      <p:pic>
        <p:nvPicPr>
          <p:cNvPr id="8" name="Image 0" descr="mess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218" y="2061058"/>
            <a:ext cx="358445" cy="35844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828800" y="1645920"/>
            <a:ext cx="9418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Como tornar a experiência de ginásio mais simples e motivadora para as mulheres, juntando planeamento, registo e progresso numa app intuitiva e bonita?</a:t>
            </a:r>
            <a:endParaRPr lang="en-US" sz="1800" dirty="0"/>
          </a:p>
        </p:txBody>
      </p:sp>
      <p:sp>
        <p:nvSpPr>
          <p:cNvPr id="10" name="Requisito"/>
          <p:cNvSpPr/>
          <p:nvPr/>
        </p:nvSpPr>
        <p:spPr>
          <a:xfrm>
            <a:off x="640080" y="3291840"/>
            <a:ext cx="5394960" cy="1280160"/>
          </a:xfrm>
          <a:prstGeom prst="roundRect">
            <a:avLst>
              <a:gd name="adj" fmla="val 15714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1" name="Ícone"/>
          <p:cNvSpPr/>
          <p:nvPr/>
        </p:nvSpPr>
        <p:spPr>
          <a:xfrm>
            <a:off x="868680" y="361188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12" name="Image 1" descr="pla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8" y="3752698"/>
            <a:ext cx="358445" cy="35844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737360" y="3474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Usar com uma mão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737360" y="391363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ginásio, entre séries, com o telemóvel numa mão.</a:t>
            </a:r>
            <a:endParaRPr lang="en-US" sz="1250" dirty="0"/>
          </a:p>
        </p:txBody>
      </p:sp>
      <p:sp>
        <p:nvSpPr>
          <p:cNvPr id="15" name="Requisito"/>
          <p:cNvSpPr/>
          <p:nvPr/>
        </p:nvSpPr>
        <p:spPr>
          <a:xfrm>
            <a:off x="6126480" y="3291840"/>
            <a:ext cx="5394960" cy="1280160"/>
          </a:xfrm>
          <a:prstGeom prst="roundRect">
            <a:avLst>
              <a:gd name="adj" fmla="val 15714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6" name="Ícone"/>
          <p:cNvSpPr/>
          <p:nvPr/>
        </p:nvSpPr>
        <p:spPr>
          <a:xfrm>
            <a:off x="6355080" y="361188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17" name="Image 2" descr="sparkl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898" y="3752698"/>
            <a:ext cx="358445" cy="35844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223760" y="3474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Instalar no ecrã principal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7223760" y="391363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 ir à loja de apps: funciona como uma app (PWA).</a:t>
            </a:r>
            <a:endParaRPr lang="en-US" sz="1250" dirty="0"/>
          </a:p>
        </p:txBody>
      </p:sp>
      <p:sp>
        <p:nvSpPr>
          <p:cNvPr id="20" name="Requisito"/>
          <p:cNvSpPr/>
          <p:nvPr/>
        </p:nvSpPr>
        <p:spPr>
          <a:xfrm>
            <a:off x="640080" y="4754880"/>
            <a:ext cx="5394960" cy="1280160"/>
          </a:xfrm>
          <a:prstGeom prst="roundRect">
            <a:avLst>
              <a:gd name="adj" fmla="val 15714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1" name="Ícone"/>
          <p:cNvSpPr/>
          <p:nvPr/>
        </p:nvSpPr>
        <p:spPr>
          <a:xfrm>
            <a:off x="868680" y="507492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22" name="Image 3" descr="lo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498" y="5215738"/>
            <a:ext cx="358445" cy="35844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737360" y="4937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Dados separados e protegidos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1737360" y="537667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Utilizador e palavra-passe; ninguém vê o treino das outras.</a:t>
            </a:r>
            <a:endParaRPr lang="en-US" sz="1250" dirty="0"/>
          </a:p>
        </p:txBody>
      </p:sp>
      <p:sp>
        <p:nvSpPr>
          <p:cNvPr id="25" name="Requisito"/>
          <p:cNvSpPr/>
          <p:nvPr/>
        </p:nvSpPr>
        <p:spPr>
          <a:xfrm>
            <a:off x="6126480" y="4754880"/>
            <a:ext cx="5394960" cy="1280160"/>
          </a:xfrm>
          <a:prstGeom prst="roundRect">
            <a:avLst>
              <a:gd name="adj" fmla="val 15714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6" name="Ícone"/>
          <p:cNvSpPr/>
          <p:nvPr/>
        </p:nvSpPr>
        <p:spPr>
          <a:xfrm>
            <a:off x="6355080" y="507492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27" name="Image 4" descr="sta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5898" y="5215738"/>
            <a:ext cx="358445" cy="35844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223760" y="4937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Tom simpático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7223760" y="537667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Bem-humorado, sem culpabilizar quem falha um dia.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PROCESSO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Como trabalhei: testar e corrigir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Passo"/>
          <p:cNvSpPr/>
          <p:nvPr/>
        </p:nvSpPr>
        <p:spPr>
          <a:xfrm>
            <a:off x="640080" y="1645920"/>
            <a:ext cx="3474720" cy="2011680"/>
          </a:xfrm>
          <a:prstGeom prst="roundRect">
            <a:avLst>
              <a:gd name="adj" fmla="val 10000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7" name="Número"/>
          <p:cNvSpPr/>
          <p:nvPr/>
        </p:nvSpPr>
        <p:spPr>
          <a:xfrm>
            <a:off x="868680" y="1874520"/>
            <a:ext cx="548640" cy="548640"/>
          </a:xfrm>
          <a:prstGeom prst="ellipse">
            <a:avLst/>
          </a:prstGeom>
          <a:solidFill>
            <a:srgbClr val="B5798E"/>
          </a:solidFill>
          <a:ln w="12700">
            <a:solidFill>
              <a:srgbClr val="B5798E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DF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600" dirty="0"/>
          </a:p>
        </p:txBody>
      </p:sp>
      <p:pic>
        <p:nvPicPr>
          <p:cNvPr id="9" name="Image 0" descr="targ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92024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6868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Identificar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29718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Partir de uma necessidade real e das dificuldades de quem treina.</a:t>
            </a:r>
            <a:endParaRPr lang="en-US" sz="1250" dirty="0"/>
          </a:p>
        </p:txBody>
      </p:sp>
      <p:sp>
        <p:nvSpPr>
          <p:cNvPr id="12" name="Passo"/>
          <p:cNvSpPr/>
          <p:nvPr/>
        </p:nvSpPr>
        <p:spPr>
          <a:xfrm>
            <a:off x="4297680" y="1645920"/>
            <a:ext cx="3474720" cy="2011680"/>
          </a:xfrm>
          <a:prstGeom prst="roundRect">
            <a:avLst>
              <a:gd name="adj" fmla="val 10000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3" name="Número"/>
          <p:cNvSpPr/>
          <p:nvPr/>
        </p:nvSpPr>
        <p:spPr>
          <a:xfrm>
            <a:off x="4526280" y="1874520"/>
            <a:ext cx="548640" cy="548640"/>
          </a:xfrm>
          <a:prstGeom prst="ellipse">
            <a:avLst/>
          </a:prstGeom>
          <a:solidFill>
            <a:srgbClr val="B5798E"/>
          </a:solidFill>
          <a:ln w="12700">
            <a:solidFill>
              <a:srgbClr val="B5798E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2628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DF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600" dirty="0"/>
          </a:p>
        </p:txBody>
      </p:sp>
      <p:pic>
        <p:nvPicPr>
          <p:cNvPr id="15" name="Image 1" descr="boo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92024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52628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Definir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4526280" y="29718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Objetivos, funcionalidades, informação e tom de voz.</a:t>
            </a:r>
            <a:endParaRPr lang="en-US" sz="1250" dirty="0"/>
          </a:p>
        </p:txBody>
      </p:sp>
      <p:sp>
        <p:nvSpPr>
          <p:cNvPr id="18" name="Passo"/>
          <p:cNvSpPr/>
          <p:nvPr/>
        </p:nvSpPr>
        <p:spPr>
          <a:xfrm>
            <a:off x="7955280" y="1645920"/>
            <a:ext cx="3474720" cy="2011680"/>
          </a:xfrm>
          <a:prstGeom prst="roundRect">
            <a:avLst>
              <a:gd name="adj" fmla="val 10000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9" name="Número"/>
          <p:cNvSpPr/>
          <p:nvPr/>
        </p:nvSpPr>
        <p:spPr>
          <a:xfrm>
            <a:off x="8183880" y="1874520"/>
            <a:ext cx="548640" cy="548640"/>
          </a:xfrm>
          <a:prstGeom prst="ellipse">
            <a:avLst/>
          </a:prstGeom>
          <a:solidFill>
            <a:srgbClr val="B5798E"/>
          </a:solidFill>
          <a:ln w="12700">
            <a:solidFill>
              <a:srgbClr val="B5798E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18388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DF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600" dirty="0"/>
          </a:p>
        </p:txBody>
      </p:sp>
      <p:pic>
        <p:nvPicPr>
          <p:cNvPr id="21" name="Image 2" descr="sparkl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192024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18388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Construir com IA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8183880" y="29718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Claude Code escreve e testa o código sob a minha direção.</a:t>
            </a:r>
            <a:endParaRPr lang="en-US" sz="1250" dirty="0"/>
          </a:p>
        </p:txBody>
      </p:sp>
      <p:sp>
        <p:nvSpPr>
          <p:cNvPr id="24" name="Passo"/>
          <p:cNvSpPr/>
          <p:nvPr/>
        </p:nvSpPr>
        <p:spPr>
          <a:xfrm>
            <a:off x="640080" y="3886200"/>
            <a:ext cx="3474720" cy="2011680"/>
          </a:xfrm>
          <a:prstGeom prst="roundRect">
            <a:avLst>
              <a:gd name="adj" fmla="val 10000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5" name="Número"/>
          <p:cNvSpPr/>
          <p:nvPr/>
        </p:nvSpPr>
        <p:spPr>
          <a:xfrm>
            <a:off x="868680" y="4114800"/>
            <a:ext cx="548640" cy="548640"/>
          </a:xfrm>
          <a:prstGeom prst="ellipse">
            <a:avLst/>
          </a:prstGeom>
          <a:solidFill>
            <a:srgbClr val="B5798E"/>
          </a:solidFill>
          <a:ln w="12700">
            <a:solidFill>
              <a:srgbClr val="B5798E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6868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DF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600" dirty="0"/>
          </a:p>
        </p:txBody>
      </p:sp>
      <p:pic>
        <p:nvPicPr>
          <p:cNvPr id="27" name="Image 3" descr="pla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4160520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68680" y="4800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Testar no telemóvel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868680" y="52120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versão é experimentada como uma utilizadora a usaria.</a:t>
            </a:r>
            <a:endParaRPr lang="en-US" sz="1250" dirty="0"/>
          </a:p>
        </p:txBody>
      </p:sp>
      <p:sp>
        <p:nvSpPr>
          <p:cNvPr id="30" name="Passo"/>
          <p:cNvSpPr/>
          <p:nvPr/>
        </p:nvSpPr>
        <p:spPr>
          <a:xfrm>
            <a:off x="4297680" y="3886200"/>
            <a:ext cx="3474720" cy="2011680"/>
          </a:xfrm>
          <a:prstGeom prst="roundRect">
            <a:avLst>
              <a:gd name="adj" fmla="val 10000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31" name="Número"/>
          <p:cNvSpPr/>
          <p:nvPr/>
        </p:nvSpPr>
        <p:spPr>
          <a:xfrm>
            <a:off x="4526280" y="4114800"/>
            <a:ext cx="548640" cy="548640"/>
          </a:xfrm>
          <a:prstGeom prst="ellipse">
            <a:avLst/>
          </a:prstGeom>
          <a:solidFill>
            <a:srgbClr val="B5798E"/>
          </a:solidFill>
          <a:ln w="12700">
            <a:solidFill>
              <a:srgbClr val="B5798E">
                <a:alpha val="0"/>
              </a:srgbClr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452628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DF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600" dirty="0"/>
          </a:p>
        </p:txBody>
      </p:sp>
      <p:pic>
        <p:nvPicPr>
          <p:cNvPr id="33" name="Image 4" descr="messag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4160520"/>
            <a:ext cx="457200" cy="45720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4526280" y="4800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Recolher feedback</a:t>
            </a:r>
            <a:endParaRPr lang="en-US" sz="1600" dirty="0"/>
          </a:p>
        </p:txBody>
      </p:sp>
      <p:sp>
        <p:nvSpPr>
          <p:cNvPr id="35" name="Text 28"/>
          <p:cNvSpPr txBox="1"/>
          <p:nvPr/>
        </p:nvSpPr>
        <p:spPr>
          <a:xfrm>
            <a:off x="4526280" y="52120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Ouvir as utilizadoras e perceber o que não funciona.</a:t>
            </a:r>
            <a:endParaRPr lang="en-US" sz="1250" dirty="0"/>
          </a:p>
        </p:txBody>
      </p:sp>
      <p:sp>
        <p:nvSpPr>
          <p:cNvPr id="36" name="Passo"/>
          <p:cNvSpPr/>
          <p:nvPr/>
        </p:nvSpPr>
        <p:spPr>
          <a:xfrm>
            <a:off x="7955280" y="3886200"/>
            <a:ext cx="3474720" cy="2011680"/>
          </a:xfrm>
          <a:prstGeom prst="roundRect">
            <a:avLst>
              <a:gd name="adj" fmla="val 10000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37" name="Número"/>
          <p:cNvSpPr/>
          <p:nvPr/>
        </p:nvSpPr>
        <p:spPr>
          <a:xfrm>
            <a:off x="8183880" y="4114800"/>
            <a:ext cx="548640" cy="548640"/>
          </a:xfrm>
          <a:prstGeom prst="ellipse">
            <a:avLst/>
          </a:prstGeom>
          <a:solidFill>
            <a:srgbClr val="B5798E"/>
          </a:solidFill>
          <a:ln w="12700">
            <a:solidFill>
              <a:srgbClr val="B5798E">
                <a:alpha val="0"/>
              </a:srgbClr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818388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DF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600" dirty="0"/>
          </a:p>
        </p:txBody>
      </p:sp>
      <p:pic>
        <p:nvPicPr>
          <p:cNvPr id="39" name="Image 5" descr="pencil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44200" y="4160520"/>
            <a:ext cx="457200" cy="45720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8183880" y="4800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Corrigir</a:t>
            </a:r>
            <a:endParaRPr lang="en-US" sz="1600" dirty="0"/>
          </a:p>
        </p:txBody>
      </p:sp>
      <p:sp>
        <p:nvSpPr>
          <p:cNvPr id="41" name="Text 33"/>
          <p:cNvSpPr txBox="1"/>
          <p:nvPr/>
        </p:nvSpPr>
        <p:spPr>
          <a:xfrm>
            <a:off x="8183880" y="52120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Retirar o que não serve e afinar o que serve.</a:t>
            </a:r>
            <a:endParaRPr lang="en-US" sz="1250" dirty="0"/>
          </a:p>
        </p:txBody>
      </p:sp>
      <p:sp>
        <p:nvSpPr>
          <p:cNvPr id="42" name="Text 34"/>
          <p:cNvSpPr txBox="1"/>
          <p:nvPr/>
        </p:nvSpPr>
        <p:spPr>
          <a:xfrm>
            <a:off x="640080" y="6080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Este ciclo repetiu-se a cada funcionalidade: ideia, versão, teste, feedback e correção.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SOLUÇÃO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Cinco abas, cada uma responde a um problema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Barra de navegação"/>
          <p:cNvSpPr/>
          <p:nvPr/>
        </p:nvSpPr>
        <p:spPr>
          <a:xfrm>
            <a:off x="640080" y="1645920"/>
            <a:ext cx="10881360" cy="1005840"/>
          </a:xfrm>
          <a:prstGeom prst="roundRect">
            <a:avLst>
              <a:gd name="adj" fmla="val 45455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7" name="Aba ativa"/>
          <p:cNvSpPr/>
          <p:nvPr/>
        </p:nvSpPr>
        <p:spPr>
          <a:xfrm>
            <a:off x="822960" y="1755648"/>
            <a:ext cx="2011680" cy="786384"/>
          </a:xfrm>
          <a:prstGeom prst="roundRect">
            <a:avLst>
              <a:gd name="adj" fmla="val 46512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pic>
        <p:nvPicPr>
          <p:cNvPr id="8" name="Image 0" descr="dumbbe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92808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18928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Treino</a:t>
            </a:r>
            <a:endParaRPr lang="en-US" sz="1400" dirty="0"/>
          </a:p>
        </p:txBody>
      </p:sp>
      <p:pic>
        <p:nvPicPr>
          <p:cNvPr id="10" name="Image 1" descr="leaf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189280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11880" y="18928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Alimentação</a:t>
            </a:r>
            <a:endParaRPr lang="en-US" sz="1400" dirty="0"/>
          </a:p>
        </p:txBody>
      </p:sp>
      <p:pic>
        <p:nvPicPr>
          <p:cNvPr id="12" name="Image 2" descr="activit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892808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760720" y="18928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Medições</a:t>
            </a:r>
            <a:endParaRPr lang="en-US" sz="1400" dirty="0"/>
          </a:p>
        </p:txBody>
      </p:sp>
      <p:pic>
        <p:nvPicPr>
          <p:cNvPr id="14" name="Image 3" descr="tren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1892808"/>
            <a:ext cx="365760" cy="3657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909560" y="18928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Progresso</a:t>
            </a:r>
            <a:endParaRPr lang="en-US" sz="1400" dirty="0"/>
          </a:p>
        </p:txBody>
      </p:sp>
      <p:pic>
        <p:nvPicPr>
          <p:cNvPr id="16" name="Image 4" descr="us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0" y="1892808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058400" y="18928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Perfil</a:t>
            </a:r>
            <a:endParaRPr lang="en-US" sz="1400" dirty="0"/>
          </a:p>
        </p:txBody>
      </p:sp>
      <p:sp>
        <p:nvSpPr>
          <p:cNvPr id="18" name="Aba"/>
          <p:cNvSpPr/>
          <p:nvPr/>
        </p:nvSpPr>
        <p:spPr>
          <a:xfrm>
            <a:off x="640080" y="3017520"/>
            <a:ext cx="2057400" cy="3108960"/>
          </a:xfrm>
          <a:prstGeom prst="roundRect">
            <a:avLst>
              <a:gd name="adj" fmla="val 9778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9" name="Ícone"/>
          <p:cNvSpPr/>
          <p:nvPr/>
        </p:nvSpPr>
        <p:spPr>
          <a:xfrm>
            <a:off x="822960" y="320040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pic>
        <p:nvPicPr>
          <p:cNvPr id="20" name="Image 5" descr="dumbbell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3778" y="3341218"/>
            <a:ext cx="358445" cy="35844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22960" y="3977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Treino</a:t>
            </a:r>
            <a:endParaRPr lang="en-US" sz="1600" dirty="0"/>
          </a:p>
        </p:txBody>
      </p:sp>
      <p:sp>
        <p:nvSpPr>
          <p:cNvPr id="22" name="Text 14"/>
          <p:cNvSpPr txBox="1"/>
          <p:nvPr/>
        </p:nvSpPr>
        <p:spPr>
          <a:xfrm>
            <a:off x="822960" y="443484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saber o que fazer nem que carga usar</a:t>
            </a:r>
            <a:endParaRPr lang="en-US" sz="1250" dirty="0"/>
          </a:p>
        </p:txBody>
      </p:sp>
      <p:sp>
        <p:nvSpPr>
          <p:cNvPr id="23" name="Aba"/>
          <p:cNvSpPr/>
          <p:nvPr/>
        </p:nvSpPr>
        <p:spPr>
          <a:xfrm>
            <a:off x="2834640" y="3017520"/>
            <a:ext cx="2057400" cy="3108960"/>
          </a:xfrm>
          <a:prstGeom prst="roundRect">
            <a:avLst>
              <a:gd name="adj" fmla="val 9778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4" name="Ícone"/>
          <p:cNvSpPr/>
          <p:nvPr/>
        </p:nvSpPr>
        <p:spPr>
          <a:xfrm>
            <a:off x="3017520" y="320040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pic>
        <p:nvPicPr>
          <p:cNvPr id="25" name="Image 6" descr="leaf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8338" y="3341218"/>
            <a:ext cx="358445" cy="358445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3017520" y="3977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Alimentação</a:t>
            </a:r>
            <a:endParaRPr lang="en-US" sz="1600" dirty="0"/>
          </a:p>
        </p:txBody>
      </p:sp>
      <p:sp>
        <p:nvSpPr>
          <p:cNvPr id="27" name="Text 18"/>
          <p:cNvSpPr txBox="1"/>
          <p:nvPr/>
        </p:nvSpPr>
        <p:spPr>
          <a:xfrm>
            <a:off x="3017520" y="443484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 tudo organizado no mesmo sítio</a:t>
            </a:r>
            <a:endParaRPr lang="en-US" sz="1250" dirty="0"/>
          </a:p>
        </p:txBody>
      </p:sp>
      <p:sp>
        <p:nvSpPr>
          <p:cNvPr id="28" name="Aba"/>
          <p:cNvSpPr/>
          <p:nvPr/>
        </p:nvSpPr>
        <p:spPr>
          <a:xfrm>
            <a:off x="5029200" y="3017520"/>
            <a:ext cx="2057400" cy="3108960"/>
          </a:xfrm>
          <a:prstGeom prst="roundRect">
            <a:avLst>
              <a:gd name="adj" fmla="val 9778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9" name="Ícone"/>
          <p:cNvSpPr/>
          <p:nvPr/>
        </p:nvSpPr>
        <p:spPr>
          <a:xfrm>
            <a:off x="5212080" y="320040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FBDCC4"/>
          </a:solidFill>
          <a:ln w="12700">
            <a:solidFill>
              <a:srgbClr val="FBDCC4">
                <a:alpha val="0"/>
              </a:srgbClr>
            </a:solidFill>
            <a:prstDash val="solid"/>
          </a:ln>
        </p:spPr>
      </p:sp>
      <p:pic>
        <p:nvPicPr>
          <p:cNvPr id="30" name="Image 7" descr="activity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52898" y="3341218"/>
            <a:ext cx="358445" cy="35844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5212080" y="3977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Medições</a:t>
            </a:r>
            <a:endParaRPr lang="en-US" sz="1600" dirty="0"/>
          </a:p>
        </p:txBody>
      </p:sp>
      <p:sp>
        <p:nvSpPr>
          <p:cNvPr id="32" name="Text 22"/>
          <p:cNvSpPr txBox="1"/>
          <p:nvPr/>
        </p:nvSpPr>
        <p:spPr>
          <a:xfrm>
            <a:off x="5212080" y="443484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Acompanhar a evolução do corpo</a:t>
            </a:r>
            <a:endParaRPr lang="en-US" sz="1250" dirty="0"/>
          </a:p>
        </p:txBody>
      </p:sp>
      <p:sp>
        <p:nvSpPr>
          <p:cNvPr id="33" name="Aba"/>
          <p:cNvSpPr/>
          <p:nvPr/>
        </p:nvSpPr>
        <p:spPr>
          <a:xfrm>
            <a:off x="7223760" y="3017520"/>
            <a:ext cx="2057400" cy="3108960"/>
          </a:xfrm>
          <a:prstGeom prst="roundRect">
            <a:avLst>
              <a:gd name="adj" fmla="val 9778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34" name="Ícone"/>
          <p:cNvSpPr/>
          <p:nvPr/>
        </p:nvSpPr>
        <p:spPr>
          <a:xfrm>
            <a:off x="7406640" y="320040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pic>
        <p:nvPicPr>
          <p:cNvPr id="35" name="Image 8" descr="trend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47458" y="3341218"/>
            <a:ext cx="358445" cy="358445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7406640" y="3977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Progresso</a:t>
            </a:r>
            <a:endParaRPr lang="en-US" sz="1600" dirty="0"/>
          </a:p>
        </p:txBody>
      </p:sp>
      <p:sp>
        <p:nvSpPr>
          <p:cNvPr id="37" name="Text 26"/>
          <p:cNvSpPr txBox="1"/>
          <p:nvPr/>
        </p:nvSpPr>
        <p:spPr>
          <a:xfrm>
            <a:off x="7406640" y="443484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Falta de motivação e de objetivo claro</a:t>
            </a:r>
            <a:endParaRPr lang="en-US" sz="1250" dirty="0"/>
          </a:p>
        </p:txBody>
      </p:sp>
      <p:sp>
        <p:nvSpPr>
          <p:cNvPr id="38" name="Aba"/>
          <p:cNvSpPr/>
          <p:nvPr/>
        </p:nvSpPr>
        <p:spPr>
          <a:xfrm>
            <a:off x="9418320" y="3017520"/>
            <a:ext cx="2057400" cy="3108960"/>
          </a:xfrm>
          <a:prstGeom prst="roundRect">
            <a:avLst>
              <a:gd name="adj" fmla="val 9778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39" name="Ícone"/>
          <p:cNvSpPr/>
          <p:nvPr/>
        </p:nvSpPr>
        <p:spPr>
          <a:xfrm>
            <a:off x="9601200" y="320040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pic>
        <p:nvPicPr>
          <p:cNvPr id="40" name="Image 9" descr="user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42018" y="3341218"/>
            <a:ext cx="358445" cy="358445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9601200" y="3977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Perfil</a:t>
            </a:r>
            <a:endParaRPr lang="en-US" sz="1600" dirty="0"/>
          </a:p>
        </p:txBody>
      </p:sp>
      <p:sp>
        <p:nvSpPr>
          <p:cNvPr id="42" name="Text 30"/>
          <p:cNvSpPr txBox="1"/>
          <p:nvPr/>
        </p:nvSpPr>
        <p:spPr>
          <a:xfrm>
            <a:off x="9601200" y="4434840"/>
            <a:ext cx="1737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Personalizar a experiência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SOLUÇÃO · ABA 1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Treino: sempre claro o que fazer a seguir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000" dirty="0"/>
          </a:p>
        </p:txBody>
      </p:sp>
      <p:pic>
        <p:nvPicPr>
          <p:cNvPr id="6" name="Image 0" descr="Captura de ecrã da app: trein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2492248" cy="5029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114800" y="1645920"/>
            <a:ext cx="7406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Exercícios de força por grupo: pernas, glúteos, costas, peito, bíceps, tríceps, ombros e abs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Cardio: passadeira, bicicleta, escadas e elíptica, e outras modalidades como natação, corrida ou ténis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exercício tem a técnica explicada, os erros comuns a evitar e o nível de esforço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Registo por série: repetições e carga; no cardio, duração ou distância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melhor carga anterior aparece no próprio exercício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Temporizador de descanso com o tempo recomendado</a:t>
            </a:r>
            <a:endParaRPr lang="en-US" sz="1500" dirty="0"/>
          </a:p>
        </p:txBody>
      </p:sp>
      <p:sp>
        <p:nvSpPr>
          <p:cNvPr id="8" name="Objetivo"/>
          <p:cNvSpPr/>
          <p:nvPr/>
        </p:nvSpPr>
        <p:spPr>
          <a:xfrm>
            <a:off x="4114800" y="5440680"/>
            <a:ext cx="7406640" cy="777240"/>
          </a:xfrm>
          <a:prstGeom prst="roundRect">
            <a:avLst>
              <a:gd name="adj" fmla="val 25882"/>
            </a:avLst>
          </a:prstGeom>
          <a:solidFill>
            <a:srgbClr val="C6E8DC">
              <a:alpha val="65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pic>
        <p:nvPicPr>
          <p:cNvPr id="9" name="Image 1" descr="targ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562356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937760" y="5669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E6E5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Objetivo: não ser preciso decidir tudo no momento.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SOLUÇÃO · ABA 1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Treino: o que há dentro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Coluna"/>
          <p:cNvSpPr/>
          <p:nvPr/>
        </p:nvSpPr>
        <p:spPr>
          <a:xfrm>
            <a:off x="640080" y="1645920"/>
            <a:ext cx="3474720" cy="4389120"/>
          </a:xfrm>
          <a:prstGeom prst="roundRect">
            <a:avLst>
              <a:gd name="adj" fmla="val 5789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7" name="Ícone"/>
          <p:cNvSpPr/>
          <p:nvPr/>
        </p:nvSpPr>
        <p:spPr>
          <a:xfrm>
            <a:off x="868680" y="187452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pic>
        <p:nvPicPr>
          <p:cNvPr id="8" name="Image 0" descr="dumbbe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498" y="2015338"/>
            <a:ext cx="358445" cy="35844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9164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Força por grupo</a:t>
            </a:r>
            <a:endParaRPr lang="en-US" sz="1600" dirty="0"/>
          </a:p>
        </p:txBody>
      </p:sp>
      <p:sp>
        <p:nvSpPr>
          <p:cNvPr id="10" name="Etiqueta"/>
          <p:cNvSpPr/>
          <p:nvPr/>
        </p:nvSpPr>
        <p:spPr>
          <a:xfrm>
            <a:off x="868680" y="2834640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283464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Pernas</a:t>
            </a:r>
            <a:endParaRPr lang="en-US" sz="1100" dirty="0"/>
          </a:p>
        </p:txBody>
      </p:sp>
      <p:sp>
        <p:nvSpPr>
          <p:cNvPr id="12" name="Etiqueta"/>
          <p:cNvSpPr/>
          <p:nvPr/>
        </p:nvSpPr>
        <p:spPr>
          <a:xfrm>
            <a:off x="2468880" y="2834640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468880" y="283464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Glúteos</a:t>
            </a:r>
            <a:endParaRPr lang="en-US" sz="1100" dirty="0"/>
          </a:p>
        </p:txBody>
      </p:sp>
      <p:sp>
        <p:nvSpPr>
          <p:cNvPr id="14" name="Etiqueta"/>
          <p:cNvSpPr/>
          <p:nvPr/>
        </p:nvSpPr>
        <p:spPr>
          <a:xfrm>
            <a:off x="868680" y="3401568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340156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Costas</a:t>
            </a:r>
            <a:endParaRPr lang="en-US" sz="1100" dirty="0"/>
          </a:p>
        </p:txBody>
      </p:sp>
      <p:sp>
        <p:nvSpPr>
          <p:cNvPr id="16" name="Etiqueta"/>
          <p:cNvSpPr/>
          <p:nvPr/>
        </p:nvSpPr>
        <p:spPr>
          <a:xfrm>
            <a:off x="2468880" y="3401568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468880" y="340156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Peito</a:t>
            </a:r>
            <a:endParaRPr lang="en-US" sz="1100" dirty="0"/>
          </a:p>
        </p:txBody>
      </p:sp>
      <p:sp>
        <p:nvSpPr>
          <p:cNvPr id="18" name="Etiqueta"/>
          <p:cNvSpPr/>
          <p:nvPr/>
        </p:nvSpPr>
        <p:spPr>
          <a:xfrm>
            <a:off x="868680" y="3968496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8680" y="3968496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Bíceps</a:t>
            </a:r>
            <a:endParaRPr lang="en-US" sz="1100" dirty="0"/>
          </a:p>
        </p:txBody>
      </p:sp>
      <p:sp>
        <p:nvSpPr>
          <p:cNvPr id="20" name="Etiqueta"/>
          <p:cNvSpPr/>
          <p:nvPr/>
        </p:nvSpPr>
        <p:spPr>
          <a:xfrm>
            <a:off x="2468880" y="3968496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468880" y="3968496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Tríceps</a:t>
            </a:r>
            <a:endParaRPr lang="en-US" sz="1100" dirty="0"/>
          </a:p>
        </p:txBody>
      </p:sp>
      <p:sp>
        <p:nvSpPr>
          <p:cNvPr id="22" name="Etiqueta"/>
          <p:cNvSpPr/>
          <p:nvPr/>
        </p:nvSpPr>
        <p:spPr>
          <a:xfrm>
            <a:off x="868680" y="4535424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68680" y="453542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Ombros</a:t>
            </a:r>
            <a:endParaRPr lang="en-US" sz="1100" dirty="0"/>
          </a:p>
        </p:txBody>
      </p:sp>
      <p:sp>
        <p:nvSpPr>
          <p:cNvPr id="24" name="Etiqueta"/>
          <p:cNvSpPr/>
          <p:nvPr/>
        </p:nvSpPr>
        <p:spPr>
          <a:xfrm>
            <a:off x="2468880" y="4535424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468880" y="453542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Abs</a:t>
            </a:r>
            <a:endParaRPr lang="en-US" sz="1100" dirty="0"/>
          </a:p>
        </p:txBody>
      </p:sp>
      <p:sp>
        <p:nvSpPr>
          <p:cNvPr id="26" name="Coluna"/>
          <p:cNvSpPr/>
          <p:nvPr/>
        </p:nvSpPr>
        <p:spPr>
          <a:xfrm>
            <a:off x="4297680" y="1645920"/>
            <a:ext cx="3474720" cy="4389120"/>
          </a:xfrm>
          <a:prstGeom prst="roundRect">
            <a:avLst>
              <a:gd name="adj" fmla="val 5789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7" name="Ícone"/>
          <p:cNvSpPr/>
          <p:nvPr/>
        </p:nvSpPr>
        <p:spPr>
          <a:xfrm>
            <a:off x="4526280" y="187452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pic>
        <p:nvPicPr>
          <p:cNvPr id="28" name="Image 1" descr="activit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098" y="2015338"/>
            <a:ext cx="358445" cy="358445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534924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Cardio e desportos</a:t>
            </a:r>
            <a:endParaRPr lang="en-US" sz="1600" dirty="0"/>
          </a:p>
        </p:txBody>
      </p:sp>
      <p:sp>
        <p:nvSpPr>
          <p:cNvPr id="30" name="Etiqueta"/>
          <p:cNvSpPr/>
          <p:nvPr/>
        </p:nvSpPr>
        <p:spPr>
          <a:xfrm>
            <a:off x="4526280" y="2834640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4526280" y="283464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Passadeira</a:t>
            </a:r>
            <a:endParaRPr lang="en-US" sz="1100" dirty="0"/>
          </a:p>
        </p:txBody>
      </p:sp>
      <p:sp>
        <p:nvSpPr>
          <p:cNvPr id="32" name="Etiqueta"/>
          <p:cNvSpPr/>
          <p:nvPr/>
        </p:nvSpPr>
        <p:spPr>
          <a:xfrm>
            <a:off x="6126480" y="2834640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126480" y="283464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Bicicleta</a:t>
            </a:r>
            <a:endParaRPr lang="en-US" sz="1100" dirty="0"/>
          </a:p>
        </p:txBody>
      </p:sp>
      <p:sp>
        <p:nvSpPr>
          <p:cNvPr id="34" name="Etiqueta"/>
          <p:cNvSpPr/>
          <p:nvPr/>
        </p:nvSpPr>
        <p:spPr>
          <a:xfrm>
            <a:off x="4526280" y="3401568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4526280" y="340156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Escadas</a:t>
            </a:r>
            <a:endParaRPr lang="en-US" sz="1100" dirty="0"/>
          </a:p>
        </p:txBody>
      </p:sp>
      <p:sp>
        <p:nvSpPr>
          <p:cNvPr id="36" name="Etiqueta"/>
          <p:cNvSpPr/>
          <p:nvPr/>
        </p:nvSpPr>
        <p:spPr>
          <a:xfrm>
            <a:off x="6126480" y="3401568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6126480" y="340156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Elíptica</a:t>
            </a:r>
            <a:endParaRPr lang="en-US" sz="1100" dirty="0"/>
          </a:p>
        </p:txBody>
      </p:sp>
      <p:sp>
        <p:nvSpPr>
          <p:cNvPr id="38" name="Etiqueta"/>
          <p:cNvSpPr/>
          <p:nvPr/>
        </p:nvSpPr>
        <p:spPr>
          <a:xfrm>
            <a:off x="4526280" y="3968496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4526280" y="3968496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Natação</a:t>
            </a:r>
            <a:endParaRPr lang="en-US" sz="1100" dirty="0"/>
          </a:p>
        </p:txBody>
      </p:sp>
      <p:sp>
        <p:nvSpPr>
          <p:cNvPr id="40" name="Etiqueta"/>
          <p:cNvSpPr/>
          <p:nvPr/>
        </p:nvSpPr>
        <p:spPr>
          <a:xfrm>
            <a:off x="6126480" y="3968496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6126480" y="3968496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Corrida</a:t>
            </a:r>
            <a:endParaRPr lang="en-US" sz="1100" dirty="0"/>
          </a:p>
        </p:txBody>
      </p:sp>
      <p:sp>
        <p:nvSpPr>
          <p:cNvPr id="42" name="Etiqueta"/>
          <p:cNvSpPr/>
          <p:nvPr/>
        </p:nvSpPr>
        <p:spPr>
          <a:xfrm>
            <a:off x="4526280" y="4535424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4526280" y="453542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Ténis</a:t>
            </a:r>
            <a:endParaRPr lang="en-US" sz="1100" dirty="0"/>
          </a:p>
        </p:txBody>
      </p:sp>
      <p:sp>
        <p:nvSpPr>
          <p:cNvPr id="44" name="Coluna"/>
          <p:cNvSpPr/>
          <p:nvPr/>
        </p:nvSpPr>
        <p:spPr>
          <a:xfrm>
            <a:off x="7955280" y="1645920"/>
            <a:ext cx="3474720" cy="4389120"/>
          </a:xfrm>
          <a:prstGeom prst="roundRect">
            <a:avLst>
              <a:gd name="adj" fmla="val 5789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45" name="Ícone"/>
          <p:cNvSpPr/>
          <p:nvPr/>
        </p:nvSpPr>
        <p:spPr>
          <a:xfrm>
            <a:off x="8183880" y="187452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pic>
        <p:nvPicPr>
          <p:cNvPr id="46" name="Image 2" descr="tim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4698" y="2015338"/>
            <a:ext cx="358445" cy="358445"/>
          </a:xfrm>
          <a:prstGeom prst="rect">
            <a:avLst/>
          </a:prstGeom>
        </p:spPr>
      </p:pic>
      <p:sp>
        <p:nvSpPr>
          <p:cNvPr id="47" name="Text 42"/>
          <p:cNvSpPr txBox="1"/>
          <p:nvPr/>
        </p:nvSpPr>
        <p:spPr>
          <a:xfrm>
            <a:off x="900684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Ferramentas</a:t>
            </a:r>
            <a:endParaRPr lang="en-US" sz="1600" dirty="0"/>
          </a:p>
        </p:txBody>
      </p:sp>
      <p:sp>
        <p:nvSpPr>
          <p:cNvPr id="48" name="Etiqueta"/>
          <p:cNvSpPr/>
          <p:nvPr/>
        </p:nvSpPr>
        <p:spPr>
          <a:xfrm>
            <a:off x="8183880" y="2834640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sp>
        <p:nvSpPr>
          <p:cNvPr id="49" name="Text 44"/>
          <p:cNvSpPr txBox="1"/>
          <p:nvPr/>
        </p:nvSpPr>
        <p:spPr>
          <a:xfrm>
            <a:off x="8183880" y="283464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Registo por série</a:t>
            </a:r>
            <a:endParaRPr lang="en-US" sz="1100" dirty="0"/>
          </a:p>
        </p:txBody>
      </p:sp>
      <p:sp>
        <p:nvSpPr>
          <p:cNvPr id="50" name="Etiqueta"/>
          <p:cNvSpPr/>
          <p:nvPr/>
        </p:nvSpPr>
        <p:spPr>
          <a:xfrm>
            <a:off x="9784080" y="2834640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9784080" y="283464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Melhor carga anterior</a:t>
            </a:r>
            <a:endParaRPr lang="en-US" sz="1100" dirty="0"/>
          </a:p>
        </p:txBody>
      </p:sp>
      <p:sp>
        <p:nvSpPr>
          <p:cNvPr id="52" name="Etiqueta"/>
          <p:cNvSpPr/>
          <p:nvPr/>
        </p:nvSpPr>
        <p:spPr>
          <a:xfrm>
            <a:off x="8183880" y="3401568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8183880" y="340156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Temporizador de descanso</a:t>
            </a:r>
            <a:endParaRPr lang="en-US" sz="1100" dirty="0"/>
          </a:p>
        </p:txBody>
      </p:sp>
      <p:sp>
        <p:nvSpPr>
          <p:cNvPr id="54" name="Etiqueta"/>
          <p:cNvSpPr/>
          <p:nvPr/>
        </p:nvSpPr>
        <p:spPr>
          <a:xfrm>
            <a:off x="9784080" y="3401568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sp>
        <p:nvSpPr>
          <p:cNvPr id="55" name="Text 50"/>
          <p:cNvSpPr txBox="1"/>
          <p:nvPr/>
        </p:nvSpPr>
        <p:spPr>
          <a:xfrm>
            <a:off x="9784080" y="340156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Aquecimento e alongamentos</a:t>
            </a:r>
            <a:endParaRPr lang="en-US" sz="1100" dirty="0"/>
          </a:p>
        </p:txBody>
      </p:sp>
      <p:sp>
        <p:nvSpPr>
          <p:cNvPr id="56" name="Etiqueta"/>
          <p:cNvSpPr/>
          <p:nvPr/>
        </p:nvSpPr>
        <p:spPr>
          <a:xfrm>
            <a:off x="8183880" y="3968496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sp>
        <p:nvSpPr>
          <p:cNvPr id="57" name="Text 52"/>
          <p:cNvSpPr txBox="1"/>
          <p:nvPr/>
        </p:nvSpPr>
        <p:spPr>
          <a:xfrm>
            <a:off x="8183880" y="3968496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Exercícios próprios</a:t>
            </a:r>
            <a:endParaRPr lang="en-US" sz="1100" dirty="0"/>
          </a:p>
        </p:txBody>
      </p:sp>
      <p:sp>
        <p:nvSpPr>
          <p:cNvPr id="58" name="Text 53"/>
          <p:cNvSpPr txBox="1"/>
          <p:nvPr/>
        </p:nvSpPr>
        <p:spPr>
          <a:xfrm>
            <a:off x="640080" y="6080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utilizadora também pode acrescentar os seus próprios exercícios a cada grupo.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SOLUÇÃO · ABA 2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Alimentação: orientação simples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000" dirty="0"/>
          </a:p>
        </p:txBody>
      </p:sp>
      <p:pic>
        <p:nvPicPr>
          <p:cNvPr id="6" name="Image 0" descr="Captura de ecrã da app: alimentaca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325880"/>
            <a:ext cx="2492248" cy="5029200"/>
          </a:xfrm>
          <a:prstGeom prst="rect">
            <a:avLst/>
          </a:prstGeom>
        </p:spPr>
      </p:pic>
      <p:sp>
        <p:nvSpPr>
          <p:cNvPr id="7" name="Cartão"/>
          <p:cNvSpPr/>
          <p:nvPr/>
        </p:nvSpPr>
        <p:spPr>
          <a:xfrm>
            <a:off x="640080" y="1645920"/>
            <a:ext cx="6583680" cy="960120"/>
          </a:xfrm>
          <a:prstGeom prst="roundRect">
            <a:avLst>
              <a:gd name="adj" fmla="val 20952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8" name="Ícone"/>
          <p:cNvSpPr/>
          <p:nvPr/>
        </p:nvSpPr>
        <p:spPr>
          <a:xfrm>
            <a:off x="868680" y="182880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pic>
        <p:nvPicPr>
          <p:cNvPr id="9" name="Image 1" descr="dropl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" y="1959559"/>
            <a:ext cx="332842" cy="33284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91640" y="1737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Hidratação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21031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Litros de água por dia, calculados a partir do peso, com dias de treino e sem treino.</a:t>
            </a:r>
            <a:endParaRPr lang="en-US" sz="1200" dirty="0"/>
          </a:p>
        </p:txBody>
      </p:sp>
      <p:sp>
        <p:nvSpPr>
          <p:cNvPr id="12" name="Cartão"/>
          <p:cNvSpPr/>
          <p:nvPr/>
        </p:nvSpPr>
        <p:spPr>
          <a:xfrm>
            <a:off x="640080" y="2743200"/>
            <a:ext cx="6583680" cy="960120"/>
          </a:xfrm>
          <a:prstGeom prst="roundRect">
            <a:avLst>
              <a:gd name="adj" fmla="val 20952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3" name="Ícone"/>
          <p:cNvSpPr/>
          <p:nvPr/>
        </p:nvSpPr>
        <p:spPr>
          <a:xfrm>
            <a:off x="868680" y="292608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pic>
        <p:nvPicPr>
          <p:cNvPr id="14" name="Image 2" descr="leaf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439" y="305683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91640" y="2834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Proteína do dia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691640" y="32004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Intervalo de gramas de proteína recomendado, repartido por refeições.</a:t>
            </a:r>
            <a:endParaRPr lang="en-US" sz="1200" dirty="0"/>
          </a:p>
        </p:txBody>
      </p:sp>
      <p:sp>
        <p:nvSpPr>
          <p:cNvPr id="17" name="Cartão"/>
          <p:cNvSpPr/>
          <p:nvPr/>
        </p:nvSpPr>
        <p:spPr>
          <a:xfrm>
            <a:off x="640080" y="3840480"/>
            <a:ext cx="6583680" cy="960120"/>
          </a:xfrm>
          <a:prstGeom prst="roundRect">
            <a:avLst>
              <a:gd name="adj" fmla="val 20952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8" name="Ícone"/>
          <p:cNvSpPr/>
          <p:nvPr/>
        </p:nvSpPr>
        <p:spPr>
          <a:xfrm>
            <a:off x="868680" y="402336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pic>
        <p:nvPicPr>
          <p:cNvPr id="19" name="Image 3" descr="boo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439" y="4154119"/>
            <a:ext cx="332842" cy="33284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691640" y="3931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podes comer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1691640" y="42976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Guia de alimentos por categoria, com quantidades à medida da mão.</a:t>
            </a:r>
            <a:endParaRPr lang="en-US" sz="1200" dirty="0"/>
          </a:p>
        </p:txBody>
      </p:sp>
      <p:sp>
        <p:nvSpPr>
          <p:cNvPr id="22" name="Cartão"/>
          <p:cNvSpPr/>
          <p:nvPr/>
        </p:nvSpPr>
        <p:spPr>
          <a:xfrm>
            <a:off x="640080" y="4937760"/>
            <a:ext cx="6583680" cy="960120"/>
          </a:xfrm>
          <a:prstGeom prst="roundRect">
            <a:avLst>
              <a:gd name="adj" fmla="val 20952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3" name="Ícone"/>
          <p:cNvSpPr/>
          <p:nvPr/>
        </p:nvSpPr>
        <p:spPr>
          <a:xfrm>
            <a:off x="868680" y="512064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pic>
        <p:nvPicPr>
          <p:cNvPr id="24" name="Image 4" descr="calenda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439" y="5251399"/>
            <a:ext cx="332842" cy="33284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691640" y="5029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Refeições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1691640" y="53949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Sugestões para cada altura do dia, ajustadas ao objetivo.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640080" y="61264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São valores de referência gerais e não substituem o acompanhamento de um nutricionista.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SOLUÇÃO · ABA 3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Medições: o corpo além da balança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1000" dirty="0"/>
          </a:p>
        </p:txBody>
      </p:sp>
      <p:pic>
        <p:nvPicPr>
          <p:cNvPr id="6" name="Image 0" descr="Captura de ecrã da app: medico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2492248" cy="5029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11480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Métricas registadas</a:t>
            </a:r>
            <a:endParaRPr lang="en-US" sz="1600" dirty="0"/>
          </a:p>
        </p:txBody>
      </p:sp>
      <p:sp>
        <p:nvSpPr>
          <p:cNvPr id="8" name="Etiqueta"/>
          <p:cNvSpPr/>
          <p:nvPr/>
        </p:nvSpPr>
        <p:spPr>
          <a:xfrm>
            <a:off x="4114800" y="20116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114800" y="20116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Peso</a:t>
            </a:r>
            <a:endParaRPr lang="en-US" sz="1100" dirty="0"/>
          </a:p>
        </p:txBody>
      </p:sp>
      <p:sp>
        <p:nvSpPr>
          <p:cNvPr id="10" name="Etiqueta"/>
          <p:cNvSpPr/>
          <p:nvPr/>
        </p:nvSpPr>
        <p:spPr>
          <a:xfrm>
            <a:off x="6629400" y="20116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29400" y="20116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IMC</a:t>
            </a:r>
            <a:endParaRPr lang="en-US" sz="1100" dirty="0"/>
          </a:p>
        </p:txBody>
      </p:sp>
      <p:sp>
        <p:nvSpPr>
          <p:cNvPr id="12" name="Etiqueta"/>
          <p:cNvSpPr/>
          <p:nvPr/>
        </p:nvSpPr>
        <p:spPr>
          <a:xfrm>
            <a:off x="9144000" y="20116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0" y="20116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Gordura corporal</a:t>
            </a:r>
            <a:endParaRPr lang="en-US" sz="1100" dirty="0"/>
          </a:p>
        </p:txBody>
      </p:sp>
      <p:sp>
        <p:nvSpPr>
          <p:cNvPr id="14" name="Etiqueta"/>
          <p:cNvSpPr/>
          <p:nvPr/>
        </p:nvSpPr>
        <p:spPr>
          <a:xfrm>
            <a:off x="4114800" y="24688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114800" y="24688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Gordura subcutânea</a:t>
            </a:r>
            <a:endParaRPr lang="en-US" sz="1100" dirty="0"/>
          </a:p>
        </p:txBody>
      </p:sp>
      <p:sp>
        <p:nvSpPr>
          <p:cNvPr id="16" name="Etiqueta"/>
          <p:cNvSpPr/>
          <p:nvPr/>
        </p:nvSpPr>
        <p:spPr>
          <a:xfrm>
            <a:off x="6629400" y="24688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29400" y="24688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Gordura visceral</a:t>
            </a:r>
            <a:endParaRPr lang="en-US" sz="1100" dirty="0"/>
          </a:p>
        </p:txBody>
      </p:sp>
      <p:sp>
        <p:nvSpPr>
          <p:cNvPr id="18" name="Etiqueta"/>
          <p:cNvSpPr/>
          <p:nvPr/>
        </p:nvSpPr>
        <p:spPr>
          <a:xfrm>
            <a:off x="9144000" y="24688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44000" y="24688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Água corporal</a:t>
            </a:r>
            <a:endParaRPr lang="en-US" sz="1100" dirty="0"/>
          </a:p>
        </p:txBody>
      </p:sp>
      <p:sp>
        <p:nvSpPr>
          <p:cNvPr id="20" name="Etiqueta"/>
          <p:cNvSpPr/>
          <p:nvPr/>
        </p:nvSpPr>
        <p:spPr>
          <a:xfrm>
            <a:off x="4114800" y="29260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114800" y="29260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Massa muscular</a:t>
            </a:r>
            <a:endParaRPr lang="en-US" sz="1100" dirty="0"/>
          </a:p>
        </p:txBody>
      </p:sp>
      <p:sp>
        <p:nvSpPr>
          <p:cNvPr id="22" name="Etiqueta"/>
          <p:cNvSpPr/>
          <p:nvPr/>
        </p:nvSpPr>
        <p:spPr>
          <a:xfrm>
            <a:off x="6629400" y="29260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629400" y="29260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Massa óssea</a:t>
            </a:r>
            <a:endParaRPr lang="en-US" sz="1100" dirty="0"/>
          </a:p>
        </p:txBody>
      </p:sp>
      <p:sp>
        <p:nvSpPr>
          <p:cNvPr id="24" name="Etiqueta"/>
          <p:cNvSpPr/>
          <p:nvPr/>
        </p:nvSpPr>
        <p:spPr>
          <a:xfrm>
            <a:off x="9144000" y="29260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144000" y="29260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BMR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4114800" y="3657600"/>
            <a:ext cx="7406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Registo manual, com data, que pode ser corrigido ou apagado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Gráficos para ver a evolução de cada métrica ao longo do tempo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Pequenas explicações de cada métrica, em linguagem simples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 comentário "A nossa opinião" sobre a evolução, escrito de forma simpática e sem julgar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SOLUÇÃO · ABA 4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Progresso: meta mensal e calendário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1000" dirty="0"/>
          </a:p>
        </p:txBody>
      </p:sp>
      <p:pic>
        <p:nvPicPr>
          <p:cNvPr id="6" name="Image 0" descr="Captura de ecrã da app: calendari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325880"/>
            <a:ext cx="2492248" cy="5029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1645920"/>
            <a:ext cx="6583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Todos os meses a utilizadora define a sua meta de dias de treino, com sugestões rápidas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 anel mostra quantos dias já treinou face à meta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calendário marca os dias treinados, automaticamente a partir dos registos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Tocar num dia mostra os exercícios e as cargas desse dia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Quando a meta é batida, há uma pequena festa com confetti e som</a:t>
            </a:r>
            <a:endParaRPr lang="en-US" sz="1500" dirty="0"/>
          </a:p>
        </p:txBody>
      </p:sp>
      <p:sp>
        <p:nvSpPr>
          <p:cNvPr id="8" name="Nota"/>
          <p:cNvSpPr/>
          <p:nvPr/>
        </p:nvSpPr>
        <p:spPr>
          <a:xfrm>
            <a:off x="640080" y="5257800"/>
            <a:ext cx="6583680" cy="914400"/>
          </a:xfrm>
          <a:prstGeom prst="roundRect">
            <a:avLst>
              <a:gd name="adj" fmla="val 22000"/>
            </a:avLst>
          </a:prstGeom>
          <a:solidFill>
            <a:srgbClr val="F5C6D8">
              <a:alpha val="6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pic>
        <p:nvPicPr>
          <p:cNvPr id="9" name="Image 1" descr="flam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4864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54406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 comparações com meses anteriores: só factos, para motivar sem culpabilizar.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SOLUÇÃO · ABA 4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Progresso: o equilíbrio do treino num relance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1000" dirty="0"/>
          </a:p>
        </p:txBody>
      </p:sp>
      <p:pic>
        <p:nvPicPr>
          <p:cNvPr id="6" name="Image 0" descr="Captura de ecrã da app: donu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2492248" cy="5029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11480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Gráfico donut por parte do corpo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2011680"/>
            <a:ext cx="7406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Mostra a percentagem de exercícios do mês por parte do corpo, a partir dos registos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exercício conta uma vez por dia, mesmo que seja registado várias vezes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legenda indica a percentagem e o número de exercícios de cada grupo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Aparece depois do calendário e sem número no centro, para ficar limpo</a:t>
            </a:r>
            <a:endParaRPr lang="en-US" sz="1500" dirty="0"/>
          </a:p>
        </p:txBody>
      </p:sp>
      <p:sp>
        <p:nvSpPr>
          <p:cNvPr id="9" name="Melhores cargas"/>
          <p:cNvSpPr/>
          <p:nvPr/>
        </p:nvSpPr>
        <p:spPr>
          <a:xfrm>
            <a:off x="4114800" y="4572000"/>
            <a:ext cx="7406640" cy="1554480"/>
          </a:xfrm>
          <a:prstGeom prst="roundRect">
            <a:avLst>
              <a:gd name="adj" fmla="val 12941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0" name="Ícone"/>
          <p:cNvSpPr/>
          <p:nvPr/>
        </p:nvSpPr>
        <p:spPr>
          <a:xfrm>
            <a:off x="4343400" y="480060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11" name="Image 1" descr="st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159" y="493135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66360" y="47548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Melhor carga de cada exercício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166360" y="516636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Lista agrupada por parte do corpo, com a melhor carga e as repetições, e a data em que foi alcançada.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SOLUÇÃO · ABA 4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Progresso: mensagens que motivam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</a:t>
            </a:r>
            <a:endParaRPr lang="en-US" sz="1000" dirty="0"/>
          </a:p>
        </p:txBody>
      </p:sp>
      <p:pic>
        <p:nvPicPr>
          <p:cNvPr id="6" name="Image 0" descr="Captura de ecrã da app: progress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325880"/>
            <a:ext cx="2492248" cy="5029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1645920"/>
            <a:ext cx="6583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 resumo do mês em linguagem simpática, a tratar a utilizadora pelo nome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Mostra os treinos já feitos, quantos faltam para a meta e os minutos de cardio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Destaca as cargas que subiram e propõe uma "próxima missão"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tom muda consoante o mês corre: de "o primeiro passo está dado" a "a caminho da dúzia"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Nunca compara com outras pessoas</a:t>
            </a:r>
            <a:endParaRPr lang="en-US" sz="1500" dirty="0"/>
          </a:p>
        </p:txBody>
      </p:sp>
      <p:sp>
        <p:nvSpPr>
          <p:cNvPr id="8" name="Nota"/>
          <p:cNvSpPr/>
          <p:nvPr/>
        </p:nvSpPr>
        <p:spPr>
          <a:xfrm>
            <a:off x="640080" y="5394960"/>
            <a:ext cx="6583680" cy="822960"/>
          </a:xfrm>
          <a:prstGeom prst="roundRect">
            <a:avLst>
              <a:gd name="adj" fmla="val 24444"/>
            </a:avLst>
          </a:prstGeom>
          <a:solidFill>
            <a:srgbClr val="D9CFF0">
              <a:alpha val="60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pic>
        <p:nvPicPr>
          <p:cNvPr id="9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5778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562356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63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Motivação com humor: o ginásio já é difícil o suficiente.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CICLO MENSTRUAL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Ciclo no Progresso: uma orientação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15</a:t>
            </a:r>
            <a:endParaRPr lang="en-US" sz="1000" dirty="0"/>
          </a:p>
        </p:txBody>
      </p:sp>
      <p:pic>
        <p:nvPicPr>
          <p:cNvPr id="6" name="Image 0" descr="Captura de ecrã da app: cicl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2492248" cy="5029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114800" y="1645920"/>
            <a:ext cx="7406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Calendário do mês com cada dia pintado pela cor da fase do ciclo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 dias da janela fértil estimada têm um ponto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Opcional e privado: só aparece se a utilizadora preencher o perfil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Apresentado como orientação geral, nunca como previsão garantida de desempenho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Botão "A menstruação começou hoje" para acertar as previsões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Aviso quando há atraso face à data prevista</a:t>
            </a:r>
            <a:endParaRPr lang="en-US" sz="1500" dirty="0"/>
          </a:p>
        </p:txBody>
      </p:sp>
      <p:sp>
        <p:nvSpPr>
          <p:cNvPr id="8" name="Aviso"/>
          <p:cNvSpPr/>
          <p:nvPr/>
        </p:nvSpPr>
        <p:spPr>
          <a:xfrm>
            <a:off x="4114800" y="5394960"/>
            <a:ext cx="7406640" cy="822960"/>
          </a:xfrm>
          <a:prstGeom prst="roundRect">
            <a:avLst>
              <a:gd name="adj" fmla="val 24444"/>
            </a:avLst>
          </a:prstGeom>
          <a:solidFill>
            <a:srgbClr val="FBDCC4">
              <a:alpha val="65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pic>
        <p:nvPicPr>
          <p:cNvPr id="9" name="Image 1" descr="inf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55778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983480" y="56235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serve como método contracetivo e não substitui o acompanhamento médico.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CICLO MENSTRUAL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Ao tocar num dia: o que esperar nesse dia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16</a:t>
            </a:r>
            <a:endParaRPr lang="en-US" sz="1000" dirty="0"/>
          </a:p>
        </p:txBody>
      </p:sp>
      <p:pic>
        <p:nvPicPr>
          <p:cNvPr id="6" name="Image 0" descr="Captura de ecrã da app: ciclo-detalh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325880"/>
            <a:ext cx="2492248" cy="5029200"/>
          </a:xfrm>
          <a:prstGeom prst="rect">
            <a:avLst/>
          </a:prstGeom>
        </p:spPr>
      </p:pic>
      <p:sp>
        <p:nvSpPr>
          <p:cNvPr id="7" name="Cartão"/>
          <p:cNvSpPr/>
          <p:nvPr/>
        </p:nvSpPr>
        <p:spPr>
          <a:xfrm>
            <a:off x="640080" y="1645920"/>
            <a:ext cx="6583680" cy="960120"/>
          </a:xfrm>
          <a:prstGeom prst="roundRect">
            <a:avLst>
              <a:gd name="adj" fmla="val 20952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8" name="Ícone"/>
          <p:cNvSpPr/>
          <p:nvPr/>
        </p:nvSpPr>
        <p:spPr>
          <a:xfrm>
            <a:off x="868680" y="182880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pic>
        <p:nvPicPr>
          <p:cNvPr id="9" name="Image 1" descr="activit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" y="1959559"/>
            <a:ext cx="332842" cy="33284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91640" y="1737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Dia e fase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21031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Dia do ciclo, fase e energia típica numa barra de bolinhas.</a:t>
            </a:r>
            <a:endParaRPr lang="en-US" sz="1200" dirty="0"/>
          </a:p>
        </p:txBody>
      </p:sp>
      <p:sp>
        <p:nvSpPr>
          <p:cNvPr id="12" name="Cartão"/>
          <p:cNvSpPr/>
          <p:nvPr/>
        </p:nvSpPr>
        <p:spPr>
          <a:xfrm>
            <a:off x="640080" y="2743200"/>
            <a:ext cx="6583680" cy="960120"/>
          </a:xfrm>
          <a:prstGeom prst="roundRect">
            <a:avLst>
              <a:gd name="adj" fmla="val 20952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3" name="Ícone"/>
          <p:cNvSpPr/>
          <p:nvPr/>
        </p:nvSpPr>
        <p:spPr>
          <a:xfrm>
            <a:off x="868680" y="292608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pic>
        <p:nvPicPr>
          <p:cNvPr id="14" name="Image 2" descr="drople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439" y="305683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91640" y="2834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podes sentir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691640" y="32004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Sintomas e sensações habituais nessa fase.</a:t>
            </a:r>
            <a:endParaRPr lang="en-US" sz="1200" dirty="0"/>
          </a:p>
        </p:txBody>
      </p:sp>
      <p:sp>
        <p:nvSpPr>
          <p:cNvPr id="17" name="Cartão"/>
          <p:cNvSpPr/>
          <p:nvPr/>
        </p:nvSpPr>
        <p:spPr>
          <a:xfrm>
            <a:off x="640080" y="3840480"/>
            <a:ext cx="6583680" cy="960120"/>
          </a:xfrm>
          <a:prstGeom prst="roundRect">
            <a:avLst>
              <a:gd name="adj" fmla="val 20952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8" name="Ícone"/>
          <p:cNvSpPr/>
          <p:nvPr/>
        </p:nvSpPr>
        <p:spPr>
          <a:xfrm>
            <a:off x="868680" y="402336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pic>
        <p:nvPicPr>
          <p:cNvPr id="19" name="Image 3" descr="dumbbel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439" y="4154119"/>
            <a:ext cx="332842" cy="33284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691640" y="3931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Treino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1691640" y="42976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 tipo de treino costuma resultar melhor.</a:t>
            </a:r>
            <a:endParaRPr lang="en-US" sz="1200" dirty="0"/>
          </a:p>
        </p:txBody>
      </p:sp>
      <p:sp>
        <p:nvSpPr>
          <p:cNvPr id="22" name="Cartão"/>
          <p:cNvSpPr/>
          <p:nvPr/>
        </p:nvSpPr>
        <p:spPr>
          <a:xfrm>
            <a:off x="640080" y="4937760"/>
            <a:ext cx="6583680" cy="960120"/>
          </a:xfrm>
          <a:prstGeom prst="roundRect">
            <a:avLst>
              <a:gd name="adj" fmla="val 20952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3" name="Ícone"/>
          <p:cNvSpPr/>
          <p:nvPr/>
        </p:nvSpPr>
        <p:spPr>
          <a:xfrm>
            <a:off x="868680" y="512064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BDCC4"/>
          </a:solidFill>
          <a:ln w="12700">
            <a:solidFill>
              <a:srgbClr val="FBDCC4">
                <a:alpha val="0"/>
              </a:srgbClr>
            </a:solidFill>
            <a:prstDash val="solid"/>
          </a:ln>
        </p:spPr>
      </p:sp>
      <p:pic>
        <p:nvPicPr>
          <p:cNvPr id="24" name="Image 4" descr="leaf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439" y="5251399"/>
            <a:ext cx="332842" cy="33284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691640" y="5029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Alimentação e dica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1691640" y="53949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ajuda e uma dica prática para o dia.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640080" y="60807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Mostra ainda a data prevista da próxima menstruação. Com contraceção hormonal ou ciclo irregular, avisa que as datas são só uma referência.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CICLO MENSTRUAL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 cinco fases e o que cada uma sugere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Fase"/>
          <p:cNvSpPr/>
          <p:nvPr/>
        </p:nvSpPr>
        <p:spPr>
          <a:xfrm>
            <a:off x="640080" y="1645920"/>
            <a:ext cx="2057400" cy="4023360"/>
          </a:xfrm>
          <a:prstGeom prst="roundRect">
            <a:avLst>
              <a:gd name="adj" fmla="val 9778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7" name="Cor da fase"/>
          <p:cNvSpPr/>
          <p:nvPr/>
        </p:nvSpPr>
        <p:spPr>
          <a:xfrm>
            <a:off x="1280160" y="1874520"/>
            <a:ext cx="777240" cy="777240"/>
          </a:xfrm>
          <a:prstGeom prst="ellipse">
            <a:avLst/>
          </a:prstGeom>
          <a:solidFill>
            <a:srgbClr val="F2A9C4"/>
          </a:solidFill>
          <a:ln w="12700">
            <a:solidFill>
              <a:srgbClr val="F2A9C4">
                <a:alpha val="0"/>
              </a:srgbClr>
            </a:solidFill>
            <a:prstDash val="solid"/>
          </a:ln>
        </p:spPr>
      </p:sp>
      <p:pic>
        <p:nvPicPr>
          <p:cNvPr id="8" name="Image 0" descr="dropl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472" y="2084832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834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Menstruação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337560"/>
            <a:ext cx="1783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Energia baixa, cólicas em algumas pessoas. Treino leve: caminhar, yoga, alongar. Ferro e muita água.</a:t>
            </a:r>
            <a:endParaRPr lang="en-US" sz="1250" dirty="0"/>
          </a:p>
        </p:txBody>
      </p:sp>
      <p:sp>
        <p:nvSpPr>
          <p:cNvPr id="11" name="Fase"/>
          <p:cNvSpPr/>
          <p:nvPr/>
        </p:nvSpPr>
        <p:spPr>
          <a:xfrm>
            <a:off x="2834640" y="1645920"/>
            <a:ext cx="2057400" cy="4023360"/>
          </a:xfrm>
          <a:prstGeom prst="roundRect">
            <a:avLst>
              <a:gd name="adj" fmla="val 9778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2" name="Cor da fase"/>
          <p:cNvSpPr/>
          <p:nvPr/>
        </p:nvSpPr>
        <p:spPr>
          <a:xfrm>
            <a:off x="3474720" y="1874520"/>
            <a:ext cx="777240" cy="777240"/>
          </a:xfrm>
          <a:prstGeom prst="ellipse">
            <a:avLst/>
          </a:prstGeom>
          <a:solidFill>
            <a:srgbClr val="BFE3D0"/>
          </a:solidFill>
          <a:ln w="12700">
            <a:solidFill>
              <a:srgbClr val="BFE3D0">
                <a:alpha val="0"/>
              </a:srgbClr>
            </a:solidFill>
            <a:prstDash val="solid"/>
          </a:ln>
        </p:spPr>
      </p:sp>
      <p:pic>
        <p:nvPicPr>
          <p:cNvPr id="13" name="Image 1" descr="dropl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032" y="208483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971800" y="2834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folicular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2971800" y="3337560"/>
            <a:ext cx="1783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Energia e motivação a subir. Boa altura para treinos intensos, cargas pesadas e recordes.</a:t>
            </a:r>
            <a:endParaRPr lang="en-US" sz="1250" dirty="0"/>
          </a:p>
        </p:txBody>
      </p:sp>
      <p:sp>
        <p:nvSpPr>
          <p:cNvPr id="16" name="Fase"/>
          <p:cNvSpPr/>
          <p:nvPr/>
        </p:nvSpPr>
        <p:spPr>
          <a:xfrm>
            <a:off x="5029200" y="1645920"/>
            <a:ext cx="2057400" cy="4023360"/>
          </a:xfrm>
          <a:prstGeom prst="roundRect">
            <a:avLst>
              <a:gd name="adj" fmla="val 9778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7" name="Cor da fase"/>
          <p:cNvSpPr/>
          <p:nvPr/>
        </p:nvSpPr>
        <p:spPr>
          <a:xfrm>
            <a:off x="5669280" y="1874520"/>
            <a:ext cx="777240" cy="777240"/>
          </a:xfrm>
          <a:prstGeom prst="ellipse">
            <a:avLst/>
          </a:prstGeom>
          <a:solidFill>
            <a:srgbClr val="FBD58A"/>
          </a:solidFill>
          <a:ln w="12700">
            <a:solidFill>
              <a:srgbClr val="FBD58A">
                <a:alpha val="0"/>
              </a:srgbClr>
            </a:solidFill>
            <a:prstDash val="solid"/>
          </a:ln>
        </p:spPr>
      </p:sp>
      <p:pic>
        <p:nvPicPr>
          <p:cNvPr id="18" name="Image 2" descr="drople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2084832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166360" y="2834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Ovulação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5166360" y="3337560"/>
            <a:ext cx="1783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Pico de energia. Treino intenso, com aquecimento e cuidado com a técnica nos joelhos.</a:t>
            </a:r>
            <a:endParaRPr lang="en-US" sz="1250" dirty="0"/>
          </a:p>
        </p:txBody>
      </p:sp>
      <p:sp>
        <p:nvSpPr>
          <p:cNvPr id="21" name="Fase"/>
          <p:cNvSpPr/>
          <p:nvPr/>
        </p:nvSpPr>
        <p:spPr>
          <a:xfrm>
            <a:off x="7223760" y="1645920"/>
            <a:ext cx="2057400" cy="4023360"/>
          </a:xfrm>
          <a:prstGeom prst="roundRect">
            <a:avLst>
              <a:gd name="adj" fmla="val 9778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2" name="Cor da fase"/>
          <p:cNvSpPr/>
          <p:nvPr/>
        </p:nvSpPr>
        <p:spPr>
          <a:xfrm>
            <a:off x="7863840" y="1874520"/>
            <a:ext cx="777240" cy="777240"/>
          </a:xfrm>
          <a:prstGeom prst="ellipse">
            <a:avLst/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pic>
        <p:nvPicPr>
          <p:cNvPr id="23" name="Image 3" descr="dropl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4152" y="2084832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360920" y="2834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Fase lútea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7360920" y="3337560"/>
            <a:ext cx="1783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Apetite um pouco maior e energia estável. Força moderada e cardio constante.</a:t>
            </a:r>
            <a:endParaRPr lang="en-US" sz="1250" dirty="0"/>
          </a:p>
        </p:txBody>
      </p:sp>
      <p:sp>
        <p:nvSpPr>
          <p:cNvPr id="26" name="Fase"/>
          <p:cNvSpPr/>
          <p:nvPr/>
        </p:nvSpPr>
        <p:spPr>
          <a:xfrm>
            <a:off x="9418320" y="1645920"/>
            <a:ext cx="2057400" cy="4023360"/>
          </a:xfrm>
          <a:prstGeom prst="roundRect">
            <a:avLst>
              <a:gd name="adj" fmla="val 9778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7" name="Cor da fase"/>
          <p:cNvSpPr/>
          <p:nvPr/>
        </p:nvSpPr>
        <p:spPr>
          <a:xfrm>
            <a:off x="10058400" y="1874520"/>
            <a:ext cx="777240" cy="777240"/>
          </a:xfrm>
          <a:prstGeom prst="ellipse">
            <a:avLst/>
          </a:prstGeom>
          <a:solidFill>
            <a:srgbClr val="F7C7A8"/>
          </a:solidFill>
          <a:ln w="12700">
            <a:solidFill>
              <a:srgbClr val="F7C7A8">
                <a:alpha val="0"/>
              </a:srgbClr>
            </a:solidFill>
            <a:prstDash val="solid"/>
          </a:ln>
        </p:spPr>
      </p:sp>
      <p:pic>
        <p:nvPicPr>
          <p:cNvPr id="28" name="Image 4" descr="drople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8712" y="2084832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555480" y="2834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Pré-menstrual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9555480" y="3337560"/>
            <a:ext cx="1783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Inchaço e humor sensível. Treinos moderados, menos sal, mais água e magnésio.</a:t>
            </a:r>
            <a:endParaRPr lang="en-US" sz="1250" dirty="0"/>
          </a:p>
        </p:txBody>
      </p:sp>
      <p:sp>
        <p:nvSpPr>
          <p:cNvPr id="31" name="Text 24"/>
          <p:cNvSpPr txBox="1"/>
          <p:nvPr/>
        </p:nvSpPr>
        <p:spPr>
          <a:xfrm>
            <a:off x="640080" y="6035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Informação geral, que pode variar de pessoa para pessoa e de mês para mês.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SOLUÇÃO · ABA 5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Perfil: privado e opcional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</a:t>
            </a:r>
            <a:endParaRPr lang="en-US" sz="1000" dirty="0"/>
          </a:p>
        </p:txBody>
      </p:sp>
      <p:pic>
        <p:nvPicPr>
          <p:cNvPr id="6" name="Image 0" descr="Captura de ecrã da app: perfi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2492248" cy="5029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114800" y="1645920"/>
            <a:ext cx="7406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Nome próprio e apelido: o nome próprio passa a aparecer no cabeçalho da app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Género (Feminino ou Outro) e data de nascimento, com a idade calculada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Cartão "O meu objetivo", que explica o que o objetivo significa para o treino e para a alimentação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Todos os dados são guardados na conta da utilizadora e só ela os vê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Perfil como última aba: os dados pessoais são secundários ao treino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SOLUÇÃO · ABA 5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Perfil: o formulário do ciclo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19</a:t>
            </a:r>
            <a:endParaRPr lang="en-US" sz="1000" dirty="0"/>
          </a:p>
        </p:txBody>
      </p:sp>
      <p:pic>
        <p:nvPicPr>
          <p:cNvPr id="6" name="Image 0" descr="Captura de ecrã da app: perfil-cicl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325880"/>
            <a:ext cx="2492248" cy="5029200"/>
          </a:xfrm>
          <a:prstGeom prst="rect">
            <a:avLst/>
          </a:prstGeom>
        </p:spPr>
      </p:pic>
      <p:sp>
        <p:nvSpPr>
          <p:cNvPr id="7" name="Situação"/>
          <p:cNvSpPr/>
          <p:nvPr/>
        </p:nvSpPr>
        <p:spPr>
          <a:xfrm>
            <a:off x="640080" y="1645920"/>
            <a:ext cx="6583680" cy="1371600"/>
          </a:xfrm>
          <a:prstGeom prst="roundRect">
            <a:avLst>
              <a:gd name="adj" fmla="val 14667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8" name="Ícone"/>
          <p:cNvSpPr/>
          <p:nvPr/>
        </p:nvSpPr>
        <p:spPr>
          <a:xfrm>
            <a:off x="868680" y="201168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pic>
        <p:nvPicPr>
          <p:cNvPr id="9" name="Image 1" descr="dropl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8" y="2152498"/>
            <a:ext cx="358445" cy="35844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37360" y="175564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Tenho ciclo menstrual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737360" y="214884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Última menstruação, duração do ciclo (21 a 45 dias), dias de menstruação, contraceção hormonal e ciclo irregular.</a:t>
            </a:r>
            <a:endParaRPr lang="en-US" sz="1200" dirty="0"/>
          </a:p>
        </p:txBody>
      </p:sp>
      <p:sp>
        <p:nvSpPr>
          <p:cNvPr id="12" name="Situação"/>
          <p:cNvSpPr/>
          <p:nvPr/>
        </p:nvSpPr>
        <p:spPr>
          <a:xfrm>
            <a:off x="640080" y="3154680"/>
            <a:ext cx="6583680" cy="1371600"/>
          </a:xfrm>
          <a:prstGeom prst="roundRect">
            <a:avLst>
              <a:gd name="adj" fmla="val 14667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3" name="Ícone"/>
          <p:cNvSpPr/>
          <p:nvPr/>
        </p:nvSpPr>
        <p:spPr>
          <a:xfrm>
            <a:off x="868680" y="352044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pic>
        <p:nvPicPr>
          <p:cNvPr id="14" name="Image 2" descr="us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498" y="3661258"/>
            <a:ext cx="358445" cy="35844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737360" y="326440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Estou grávida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737360" y="365760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Indica a última menstruação e a app calcula as semanas e a data prevista do parto, mostrando o trimestre.</a:t>
            </a:r>
            <a:endParaRPr lang="en-US" sz="1200" dirty="0"/>
          </a:p>
        </p:txBody>
      </p:sp>
      <p:sp>
        <p:nvSpPr>
          <p:cNvPr id="17" name="Situação"/>
          <p:cNvSpPr/>
          <p:nvPr/>
        </p:nvSpPr>
        <p:spPr>
          <a:xfrm>
            <a:off x="640080" y="4663440"/>
            <a:ext cx="6583680" cy="1371600"/>
          </a:xfrm>
          <a:prstGeom prst="roundRect">
            <a:avLst>
              <a:gd name="adj" fmla="val 14667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8" name="Ícone"/>
          <p:cNvSpPr/>
          <p:nvPr/>
        </p:nvSpPr>
        <p:spPr>
          <a:xfrm>
            <a:off x="868680" y="502920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pic>
        <p:nvPicPr>
          <p:cNvPr id="19" name="Image 3" descr="lo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498" y="5170018"/>
            <a:ext cx="358445" cy="35844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737360" y="477316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Já não tenho menstruação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1737360" y="516636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app não mostra fases do ciclo, e sugere falar com o médico se for inesperado.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62179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Durante a gravidez, a app não mostra fases do ciclo como se decorresse normalmente.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IDENTIDADE VISUAL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Feminina, divertida e aesthetic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Paleta</a:t>
            </a:r>
            <a:endParaRPr lang="en-US" sz="1600" dirty="0"/>
          </a:p>
        </p:txBody>
      </p:sp>
      <p:sp>
        <p:nvSpPr>
          <p:cNvPr id="7" name="Amostra"/>
          <p:cNvSpPr/>
          <p:nvPr/>
        </p:nvSpPr>
        <p:spPr>
          <a:xfrm>
            <a:off x="822960" y="2423160"/>
            <a:ext cx="1005840" cy="1005840"/>
          </a:xfrm>
          <a:prstGeom prst="ellipse">
            <a:avLst/>
          </a:prstGeom>
          <a:solidFill>
            <a:srgbClr val="F5C6D8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B5798E">
                <a:alpha val="2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Rosa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749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#F5C6D8</a:t>
            </a:r>
            <a:endParaRPr lang="en-US" sz="1000" dirty="0"/>
          </a:p>
        </p:txBody>
      </p:sp>
      <p:sp>
        <p:nvSpPr>
          <p:cNvPr id="10" name="Amostra"/>
          <p:cNvSpPr/>
          <p:nvPr/>
        </p:nvSpPr>
        <p:spPr>
          <a:xfrm>
            <a:off x="2377440" y="2423160"/>
            <a:ext cx="1005840" cy="1005840"/>
          </a:xfrm>
          <a:prstGeom prst="ellipse">
            <a:avLst/>
          </a:prstGeom>
          <a:solidFill>
            <a:srgbClr val="B5798E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B5798E">
                <a:alpha val="2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194560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Rosa escuro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194560" y="3749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#B5798E</a:t>
            </a:r>
            <a:endParaRPr lang="en-US" sz="1000" dirty="0"/>
          </a:p>
        </p:txBody>
      </p:sp>
      <p:sp>
        <p:nvSpPr>
          <p:cNvPr id="13" name="Amostra"/>
          <p:cNvSpPr/>
          <p:nvPr/>
        </p:nvSpPr>
        <p:spPr>
          <a:xfrm>
            <a:off x="3931920" y="2423160"/>
            <a:ext cx="1005840" cy="1005840"/>
          </a:xfrm>
          <a:prstGeom prst="ellipse">
            <a:avLst/>
          </a:prstGeom>
          <a:solidFill>
            <a:srgbClr val="9C5F7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B5798E">
                <a:alpha val="2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749040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Rosa profundo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3749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#9C5F76</a:t>
            </a:r>
            <a:endParaRPr lang="en-US" sz="1000" dirty="0"/>
          </a:p>
        </p:txBody>
      </p:sp>
      <p:sp>
        <p:nvSpPr>
          <p:cNvPr id="16" name="Amostra"/>
          <p:cNvSpPr/>
          <p:nvPr/>
        </p:nvSpPr>
        <p:spPr>
          <a:xfrm>
            <a:off x="5486400" y="2423160"/>
            <a:ext cx="1005840" cy="1005840"/>
          </a:xfrm>
          <a:prstGeom prst="ellipse">
            <a:avLst/>
          </a:prstGeom>
          <a:solidFill>
            <a:srgbClr val="D9CFF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B5798E">
                <a:alpha val="2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303520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Lilás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3749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#D9CFF0</a:t>
            </a:r>
            <a:endParaRPr lang="en-US" sz="1000" dirty="0"/>
          </a:p>
        </p:txBody>
      </p:sp>
      <p:sp>
        <p:nvSpPr>
          <p:cNvPr id="19" name="Amostra"/>
          <p:cNvSpPr/>
          <p:nvPr/>
        </p:nvSpPr>
        <p:spPr>
          <a:xfrm>
            <a:off x="7040880" y="2423160"/>
            <a:ext cx="1005840" cy="1005840"/>
          </a:xfrm>
          <a:prstGeom prst="ellipse">
            <a:avLst/>
          </a:prstGeom>
          <a:solidFill>
            <a:srgbClr val="C6E8DC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B5798E">
                <a:alpha val="2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858000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Menta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3749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#C6E8DC</a:t>
            </a:r>
            <a:endParaRPr lang="en-US" sz="1000" dirty="0"/>
          </a:p>
        </p:txBody>
      </p:sp>
      <p:sp>
        <p:nvSpPr>
          <p:cNvPr id="22" name="Amostra"/>
          <p:cNvSpPr/>
          <p:nvPr/>
        </p:nvSpPr>
        <p:spPr>
          <a:xfrm>
            <a:off x="8595360" y="2423160"/>
            <a:ext cx="1005840" cy="1005840"/>
          </a:xfrm>
          <a:prstGeom prst="ellipse">
            <a:avLst/>
          </a:prstGeom>
          <a:solidFill>
            <a:srgbClr val="FBDCC4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B5798E">
                <a:alpha val="2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412480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Pêssego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0" y="3749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#FBDCC4</a:t>
            </a:r>
            <a:endParaRPr lang="en-US" sz="1000" dirty="0"/>
          </a:p>
        </p:txBody>
      </p:sp>
      <p:sp>
        <p:nvSpPr>
          <p:cNvPr id="25" name="Amostra"/>
          <p:cNvSpPr/>
          <p:nvPr/>
        </p:nvSpPr>
        <p:spPr>
          <a:xfrm>
            <a:off x="10149840" y="2423160"/>
            <a:ext cx="1005840" cy="1005840"/>
          </a:xfrm>
          <a:prstGeom prst="ellipse">
            <a:avLst/>
          </a:prstGeom>
          <a:solidFill>
            <a:srgbClr val="4A3B4A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B5798E">
                <a:alpha val="2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966960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Tinta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966960" y="3749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#4A3B4A</a:t>
            </a:r>
            <a:endParaRPr lang="en-US" sz="1000" dirty="0"/>
          </a:p>
        </p:txBody>
      </p:sp>
      <p:sp>
        <p:nvSpPr>
          <p:cNvPr id="28" name="Tipografia"/>
          <p:cNvSpPr/>
          <p:nvPr/>
        </p:nvSpPr>
        <p:spPr>
          <a:xfrm>
            <a:off x="640080" y="4206240"/>
            <a:ext cx="5303520" cy="2103120"/>
          </a:xfrm>
          <a:prstGeom prst="roundRect">
            <a:avLst>
              <a:gd name="adj" fmla="val 9565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914400" y="4297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Tipografia: Poppins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" y="47091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Aa Bb Cc 123</a:t>
            </a:r>
            <a:endParaRPr lang="en-US" sz="3600" dirty="0"/>
          </a:p>
        </p:txBody>
      </p:sp>
      <p:sp>
        <p:nvSpPr>
          <p:cNvPr id="31" name="Text 29"/>
          <p:cNvSpPr txBox="1"/>
          <p:nvPr/>
        </p:nvSpPr>
        <p:spPr>
          <a:xfrm>
            <a:off x="914400" y="55321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Arredondada e amigável, em quatro pesos: normal, médio, seminegrito e negrito.</a:t>
            </a:r>
            <a:endParaRPr lang="en-US" sz="1250" dirty="0"/>
          </a:p>
        </p:txBody>
      </p:sp>
      <p:sp>
        <p:nvSpPr>
          <p:cNvPr id="32" name="Ícones"/>
          <p:cNvSpPr/>
          <p:nvPr/>
        </p:nvSpPr>
        <p:spPr>
          <a:xfrm>
            <a:off x="6217920" y="4206240"/>
            <a:ext cx="5303520" cy="2103120"/>
          </a:xfrm>
          <a:prstGeom prst="roundRect">
            <a:avLst>
              <a:gd name="adj" fmla="val 9565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6492240" y="4297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Ícones de linha</a:t>
            </a:r>
            <a:endParaRPr lang="en-US" sz="1600" dirty="0"/>
          </a:p>
        </p:txBody>
      </p:sp>
      <p:sp>
        <p:nvSpPr>
          <p:cNvPr id="34" name="Ícone"/>
          <p:cNvSpPr/>
          <p:nvPr/>
        </p:nvSpPr>
        <p:spPr>
          <a:xfrm>
            <a:off x="6492240" y="470916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35" name="Image 0" descr="dumbbel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999" y="4839919"/>
            <a:ext cx="332842" cy="332842"/>
          </a:xfrm>
          <a:prstGeom prst="rect">
            <a:avLst/>
          </a:prstGeom>
        </p:spPr>
      </p:pic>
      <p:sp>
        <p:nvSpPr>
          <p:cNvPr id="36" name="Ícone"/>
          <p:cNvSpPr/>
          <p:nvPr/>
        </p:nvSpPr>
        <p:spPr>
          <a:xfrm>
            <a:off x="7452360" y="470916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37" name="Image 1" descr="leaf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119" y="4839919"/>
            <a:ext cx="332842" cy="332842"/>
          </a:xfrm>
          <a:prstGeom prst="rect">
            <a:avLst/>
          </a:prstGeom>
        </p:spPr>
      </p:pic>
      <p:sp>
        <p:nvSpPr>
          <p:cNvPr id="38" name="Ícone"/>
          <p:cNvSpPr/>
          <p:nvPr/>
        </p:nvSpPr>
        <p:spPr>
          <a:xfrm>
            <a:off x="8412480" y="470916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39" name="Image 2" descr="activit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3239" y="4839919"/>
            <a:ext cx="332842" cy="332842"/>
          </a:xfrm>
          <a:prstGeom prst="rect">
            <a:avLst/>
          </a:prstGeom>
        </p:spPr>
      </p:pic>
      <p:sp>
        <p:nvSpPr>
          <p:cNvPr id="40" name="Ícone"/>
          <p:cNvSpPr/>
          <p:nvPr/>
        </p:nvSpPr>
        <p:spPr>
          <a:xfrm>
            <a:off x="9372600" y="470916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41" name="Image 3" descr="tren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3359" y="4839919"/>
            <a:ext cx="332842" cy="332842"/>
          </a:xfrm>
          <a:prstGeom prst="rect">
            <a:avLst/>
          </a:prstGeom>
        </p:spPr>
      </p:pic>
      <p:sp>
        <p:nvSpPr>
          <p:cNvPr id="42" name="Ícone"/>
          <p:cNvSpPr/>
          <p:nvPr/>
        </p:nvSpPr>
        <p:spPr>
          <a:xfrm>
            <a:off x="10332720" y="470916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43" name="Image 4" descr="us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3479" y="4839919"/>
            <a:ext cx="332842" cy="332842"/>
          </a:xfrm>
          <a:prstGeom prst="rect">
            <a:avLst/>
          </a:prstGeom>
        </p:spPr>
      </p:pic>
      <p:sp>
        <p:nvSpPr>
          <p:cNvPr id="44" name="Ícone"/>
          <p:cNvSpPr/>
          <p:nvPr/>
        </p:nvSpPr>
        <p:spPr>
          <a:xfrm>
            <a:off x="6492240" y="544068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45" name="Image 5" descr="drople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2999" y="5571439"/>
            <a:ext cx="332842" cy="332842"/>
          </a:xfrm>
          <a:prstGeom prst="rect">
            <a:avLst/>
          </a:prstGeom>
        </p:spPr>
      </p:pic>
      <p:sp>
        <p:nvSpPr>
          <p:cNvPr id="46" name="Ícone"/>
          <p:cNvSpPr/>
          <p:nvPr/>
        </p:nvSpPr>
        <p:spPr>
          <a:xfrm>
            <a:off x="7452360" y="544068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47" name="Image 6" descr="targe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3119" y="5571439"/>
            <a:ext cx="332842" cy="332842"/>
          </a:xfrm>
          <a:prstGeom prst="rect">
            <a:avLst/>
          </a:prstGeom>
        </p:spPr>
      </p:pic>
      <p:sp>
        <p:nvSpPr>
          <p:cNvPr id="48" name="Ícone"/>
          <p:cNvSpPr/>
          <p:nvPr/>
        </p:nvSpPr>
        <p:spPr>
          <a:xfrm>
            <a:off x="8412480" y="544068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49" name="Image 7" descr="star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43239" y="5571439"/>
            <a:ext cx="332842" cy="332842"/>
          </a:xfrm>
          <a:prstGeom prst="rect">
            <a:avLst/>
          </a:prstGeom>
        </p:spPr>
      </p:pic>
      <p:sp>
        <p:nvSpPr>
          <p:cNvPr id="50" name="Ícone"/>
          <p:cNvSpPr/>
          <p:nvPr/>
        </p:nvSpPr>
        <p:spPr>
          <a:xfrm>
            <a:off x="9372600" y="544068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51" name="Image 8" descr="flam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03359" y="5571439"/>
            <a:ext cx="332842" cy="332842"/>
          </a:xfrm>
          <a:prstGeom prst="rect">
            <a:avLst/>
          </a:prstGeom>
        </p:spPr>
      </p:pic>
      <p:sp>
        <p:nvSpPr>
          <p:cNvPr id="52" name="Ícone"/>
          <p:cNvSpPr/>
          <p:nvPr/>
        </p:nvSpPr>
        <p:spPr>
          <a:xfrm>
            <a:off x="10332720" y="544068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53" name="Image 9" descr="sparkles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63479" y="5571439"/>
            <a:ext cx="332842" cy="332842"/>
          </a:xfrm>
          <a:prstGeom prst="rect">
            <a:avLst/>
          </a:prstGeom>
        </p:spPr>
      </p:pic>
      <p:sp>
        <p:nvSpPr>
          <p:cNvPr id="54" name="Text 42"/>
          <p:cNvSpPr txBox="1"/>
          <p:nvPr/>
        </p:nvSpPr>
        <p:spPr>
          <a:xfrm>
            <a:off x="6492240" y="5989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 mesmos ícones da app, em traço fino e cantos arredondados.</a:t>
            </a:r>
            <a:endParaRPr lang="en-US" sz="1050" dirty="0"/>
          </a:p>
        </p:txBody>
      </p:sp>
      <p:sp>
        <p:nvSpPr>
          <p:cNvPr id="55" name="Text 43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Fundo "aurora" com manchas suaves, cartões de vidro, cantos arredondados, elementos visuais e sonoros. O contrário das apps de fitness técnicas e intimidantes.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DECISÕES DE UX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decisão teve uma razão (1/2)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Decisão"/>
          <p:cNvSpPr/>
          <p:nvPr/>
        </p:nvSpPr>
        <p:spPr>
          <a:xfrm>
            <a:off x="640080" y="1554480"/>
            <a:ext cx="10881360" cy="1051560"/>
          </a:xfrm>
          <a:prstGeom prst="roundRect">
            <a:avLst>
              <a:gd name="adj" fmla="val 19130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7" name="Ícone"/>
          <p:cNvSpPr/>
          <p:nvPr/>
        </p:nvSpPr>
        <p:spPr>
          <a:xfrm>
            <a:off x="868680" y="178308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8" name="Image 0" descr="us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9" y="1913839"/>
            <a:ext cx="332842" cy="3328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9164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Uma só app, treino isolado por pessoa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691640" y="2011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Evita várias apps para manter e garante que ninguém vê o treino da outra.</a:t>
            </a:r>
            <a:endParaRPr lang="en-US" sz="1150" dirty="0"/>
          </a:p>
        </p:txBody>
      </p:sp>
      <p:sp>
        <p:nvSpPr>
          <p:cNvPr id="11" name="Etiqueta"/>
          <p:cNvSpPr/>
          <p:nvPr/>
        </p:nvSpPr>
        <p:spPr>
          <a:xfrm>
            <a:off x="6766560" y="173736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FBDCC4"/>
          </a:solidFill>
          <a:ln w="12700">
            <a:solidFill>
              <a:srgbClr val="FBDCC4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766560" y="17373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Antes: Apps separadas</a:t>
            </a:r>
            <a:endParaRPr lang="en-US" sz="1100" dirty="0"/>
          </a:p>
        </p:txBody>
      </p:sp>
      <p:sp>
        <p:nvSpPr>
          <p:cNvPr id="13" name="Etiqueta"/>
          <p:cNvSpPr/>
          <p:nvPr/>
        </p:nvSpPr>
        <p:spPr>
          <a:xfrm>
            <a:off x="6766560" y="2130552"/>
            <a:ext cx="4572000" cy="310896"/>
          </a:xfrm>
          <a:prstGeom prst="roundRect">
            <a:avLst>
              <a:gd name="adj" fmla="val 5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66560" y="21305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E5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Depois: Um login por pessoa, com o plano certo</a:t>
            </a:r>
            <a:endParaRPr lang="en-US" sz="1100" dirty="0"/>
          </a:p>
        </p:txBody>
      </p:sp>
      <p:sp>
        <p:nvSpPr>
          <p:cNvPr id="15" name="Decisão"/>
          <p:cNvSpPr/>
          <p:nvPr/>
        </p:nvSpPr>
        <p:spPr>
          <a:xfrm>
            <a:off x="640080" y="2724912"/>
            <a:ext cx="10881360" cy="1051560"/>
          </a:xfrm>
          <a:prstGeom prst="roundRect">
            <a:avLst>
              <a:gd name="adj" fmla="val 19130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6" name="Ícone"/>
          <p:cNvSpPr/>
          <p:nvPr/>
        </p:nvSpPr>
        <p:spPr>
          <a:xfrm>
            <a:off x="868680" y="2953512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17" name="Image 1" descr="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" y="3084271"/>
            <a:ext cx="332842" cy="33284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691640" y="28163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Sessão que se mantém aberta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1691640" y="318211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Pedir a palavra-passe sempre que se abre a app no ginásio irrita.</a:t>
            </a:r>
            <a:endParaRPr lang="en-US" sz="1150" dirty="0"/>
          </a:p>
        </p:txBody>
      </p:sp>
      <p:sp>
        <p:nvSpPr>
          <p:cNvPr id="20" name="Etiqueta"/>
          <p:cNvSpPr/>
          <p:nvPr/>
        </p:nvSpPr>
        <p:spPr>
          <a:xfrm>
            <a:off x="6766560" y="2907792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FBDCC4"/>
          </a:solidFill>
          <a:ln w="12700">
            <a:solidFill>
              <a:srgbClr val="FBDCC4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766560" y="29077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Antes: Login a cada abertura</a:t>
            </a:r>
            <a:endParaRPr lang="en-US" sz="1100" dirty="0"/>
          </a:p>
        </p:txBody>
      </p:sp>
      <p:sp>
        <p:nvSpPr>
          <p:cNvPr id="22" name="Etiqueta"/>
          <p:cNvSpPr/>
          <p:nvPr/>
        </p:nvSpPr>
        <p:spPr>
          <a:xfrm>
            <a:off x="6766560" y="3300984"/>
            <a:ext cx="4572000" cy="310896"/>
          </a:xfrm>
          <a:prstGeom prst="roundRect">
            <a:avLst>
              <a:gd name="adj" fmla="val 5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766560" y="330098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E5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Depois: Só se sair voluntariamente</a:t>
            </a:r>
            <a:endParaRPr lang="en-US" sz="1100" dirty="0"/>
          </a:p>
        </p:txBody>
      </p:sp>
      <p:sp>
        <p:nvSpPr>
          <p:cNvPr id="24" name="Decisão"/>
          <p:cNvSpPr/>
          <p:nvPr/>
        </p:nvSpPr>
        <p:spPr>
          <a:xfrm>
            <a:off x="640080" y="3895344"/>
            <a:ext cx="10881360" cy="1051560"/>
          </a:xfrm>
          <a:prstGeom prst="roundRect">
            <a:avLst>
              <a:gd name="adj" fmla="val 19130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5" name="Ícone"/>
          <p:cNvSpPr/>
          <p:nvPr/>
        </p:nvSpPr>
        <p:spPr>
          <a:xfrm>
            <a:off x="868680" y="4123944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26" name="Image 2" descr="sparkl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439" y="4254703"/>
            <a:ext cx="332842" cy="332842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691640" y="39867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Novo nome e tom bem-humorado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1691640" y="435254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Dar personalidade e leveza ao que pode ser culpabilizante.</a:t>
            </a:r>
            <a:endParaRPr lang="en-US" sz="1150" dirty="0"/>
          </a:p>
        </p:txBody>
      </p:sp>
      <p:sp>
        <p:nvSpPr>
          <p:cNvPr id="29" name="Etiqueta"/>
          <p:cNvSpPr/>
          <p:nvPr/>
        </p:nvSpPr>
        <p:spPr>
          <a:xfrm>
            <a:off x="6766560" y="4078224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FBDCC4"/>
          </a:solidFill>
          <a:ln w="12700">
            <a:solidFill>
              <a:srgbClr val="FBDCC4">
                <a:alpha val="0"/>
              </a:srgbClr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766560" y="407822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Antes: Plano Treino</a:t>
            </a:r>
            <a:endParaRPr lang="en-US" sz="1100" dirty="0"/>
          </a:p>
        </p:txBody>
      </p:sp>
      <p:sp>
        <p:nvSpPr>
          <p:cNvPr id="31" name="Etiqueta"/>
          <p:cNvSpPr/>
          <p:nvPr/>
        </p:nvSpPr>
        <p:spPr>
          <a:xfrm>
            <a:off x="6766560" y="4471416"/>
            <a:ext cx="4572000" cy="310896"/>
          </a:xfrm>
          <a:prstGeom prst="roundRect">
            <a:avLst>
              <a:gd name="adj" fmla="val 5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6766560" y="447141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E5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Depois: Just Butts (NIJB)</a:t>
            </a:r>
            <a:endParaRPr lang="en-US" sz="1100" dirty="0"/>
          </a:p>
        </p:txBody>
      </p:sp>
      <p:sp>
        <p:nvSpPr>
          <p:cNvPr id="33" name="Decisão"/>
          <p:cNvSpPr/>
          <p:nvPr/>
        </p:nvSpPr>
        <p:spPr>
          <a:xfrm>
            <a:off x="640080" y="5065776"/>
            <a:ext cx="10881360" cy="1051560"/>
          </a:xfrm>
          <a:prstGeom prst="roundRect">
            <a:avLst>
              <a:gd name="adj" fmla="val 19130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34" name="Ícone"/>
          <p:cNvSpPr/>
          <p:nvPr/>
        </p:nvSpPr>
        <p:spPr>
          <a:xfrm>
            <a:off x="868680" y="5294376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35" name="Image 3" descr="us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439" y="5425135"/>
            <a:ext cx="332842" cy="332842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1691640" y="51572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Perfil como última aba</a:t>
            </a:r>
            <a:endParaRPr lang="en-US" sz="1400" dirty="0"/>
          </a:p>
        </p:txBody>
      </p:sp>
      <p:sp>
        <p:nvSpPr>
          <p:cNvPr id="37" name="Text 31"/>
          <p:cNvSpPr txBox="1"/>
          <p:nvPr/>
        </p:nvSpPr>
        <p:spPr>
          <a:xfrm>
            <a:off x="1691640" y="552297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 dados pessoais são secundários ao treino.</a:t>
            </a:r>
            <a:endParaRPr lang="en-US" sz="1150" dirty="0"/>
          </a:p>
        </p:txBody>
      </p:sp>
      <p:sp>
        <p:nvSpPr>
          <p:cNvPr id="38" name="Etiqueta"/>
          <p:cNvSpPr/>
          <p:nvPr/>
        </p:nvSpPr>
        <p:spPr>
          <a:xfrm>
            <a:off x="6766560" y="5248656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FBDCC4"/>
          </a:solidFill>
          <a:ln w="12700">
            <a:solidFill>
              <a:srgbClr val="FBDCC4">
                <a:alpha val="0"/>
              </a:srgbClr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6766560" y="524865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Antes: Perfil em 3.º lugar</a:t>
            </a:r>
            <a:endParaRPr lang="en-US" sz="1100" dirty="0"/>
          </a:p>
        </p:txBody>
      </p:sp>
      <p:sp>
        <p:nvSpPr>
          <p:cNvPr id="40" name="Etiqueta"/>
          <p:cNvSpPr/>
          <p:nvPr/>
        </p:nvSpPr>
        <p:spPr>
          <a:xfrm>
            <a:off x="6766560" y="5641848"/>
            <a:ext cx="4572000" cy="310896"/>
          </a:xfrm>
          <a:prstGeom prst="roundRect">
            <a:avLst>
              <a:gd name="adj" fmla="val 5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6766560" y="56418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E5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Depois: Perfil em último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DECISÕES DE UX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decisão teve uma razão (2/2)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Decisão"/>
          <p:cNvSpPr/>
          <p:nvPr/>
        </p:nvSpPr>
        <p:spPr>
          <a:xfrm>
            <a:off x="640080" y="1554480"/>
            <a:ext cx="10881360" cy="1051560"/>
          </a:xfrm>
          <a:prstGeom prst="roundRect">
            <a:avLst>
              <a:gd name="adj" fmla="val 19130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7" name="Ícone"/>
          <p:cNvSpPr/>
          <p:nvPr/>
        </p:nvSpPr>
        <p:spPr>
          <a:xfrm>
            <a:off x="868680" y="1783080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8" name="Image 0" descr="tre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9" y="1913839"/>
            <a:ext cx="332842" cy="3328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91640" y="1645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Donut por parte do corpo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691640" y="2011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Mostrar o equilíbrio do treino de forma visual, a seguir ao calendário.</a:t>
            </a:r>
            <a:endParaRPr lang="en-US" sz="1150" dirty="0"/>
          </a:p>
        </p:txBody>
      </p:sp>
      <p:sp>
        <p:nvSpPr>
          <p:cNvPr id="11" name="Etiqueta"/>
          <p:cNvSpPr/>
          <p:nvPr/>
        </p:nvSpPr>
        <p:spPr>
          <a:xfrm>
            <a:off x="6766560" y="1737360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FBDCC4"/>
          </a:solidFill>
          <a:ln w="12700">
            <a:solidFill>
              <a:srgbClr val="FBDCC4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766560" y="17373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Antes: Sem gráfico</a:t>
            </a:r>
            <a:endParaRPr lang="en-US" sz="1100" dirty="0"/>
          </a:p>
        </p:txBody>
      </p:sp>
      <p:sp>
        <p:nvSpPr>
          <p:cNvPr id="13" name="Etiqueta"/>
          <p:cNvSpPr/>
          <p:nvPr/>
        </p:nvSpPr>
        <p:spPr>
          <a:xfrm>
            <a:off x="6766560" y="2130552"/>
            <a:ext cx="4023360" cy="310896"/>
          </a:xfrm>
          <a:prstGeom prst="roundRect">
            <a:avLst>
              <a:gd name="adj" fmla="val 5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66560" y="213055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E5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Depois: Donut com a % de exercícios</a:t>
            </a:r>
            <a:endParaRPr lang="en-US" sz="1100" dirty="0"/>
          </a:p>
        </p:txBody>
      </p:sp>
      <p:sp>
        <p:nvSpPr>
          <p:cNvPr id="15" name="Decisão"/>
          <p:cNvSpPr/>
          <p:nvPr/>
        </p:nvSpPr>
        <p:spPr>
          <a:xfrm>
            <a:off x="640080" y="2724912"/>
            <a:ext cx="10881360" cy="1051560"/>
          </a:xfrm>
          <a:prstGeom prst="roundRect">
            <a:avLst>
              <a:gd name="adj" fmla="val 19130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6" name="Ícone"/>
          <p:cNvSpPr/>
          <p:nvPr/>
        </p:nvSpPr>
        <p:spPr>
          <a:xfrm>
            <a:off x="868680" y="2953512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17" name="Image 1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" y="3084271"/>
            <a:ext cx="332842" cy="33284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691640" y="28163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exercício conta uma vez por dia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1691640" y="318211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contagem tem de bater com a perceção da utilizadora.</a:t>
            </a:r>
            <a:endParaRPr lang="en-US" sz="1150" dirty="0"/>
          </a:p>
        </p:txBody>
      </p:sp>
      <p:sp>
        <p:nvSpPr>
          <p:cNvPr id="20" name="Etiqueta"/>
          <p:cNvSpPr/>
          <p:nvPr/>
        </p:nvSpPr>
        <p:spPr>
          <a:xfrm>
            <a:off x="6766560" y="2907792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FBDCC4"/>
          </a:solidFill>
          <a:ln w="12700">
            <a:solidFill>
              <a:srgbClr val="FBDCC4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766560" y="29077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Antes: 3 exercícios contados</a:t>
            </a:r>
            <a:endParaRPr lang="en-US" sz="1100" dirty="0"/>
          </a:p>
        </p:txBody>
      </p:sp>
      <p:sp>
        <p:nvSpPr>
          <p:cNvPr id="22" name="Etiqueta"/>
          <p:cNvSpPr/>
          <p:nvPr/>
        </p:nvSpPr>
        <p:spPr>
          <a:xfrm>
            <a:off x="6766560" y="3300984"/>
            <a:ext cx="4023360" cy="310896"/>
          </a:xfrm>
          <a:prstGeom prst="roundRect">
            <a:avLst>
              <a:gd name="adj" fmla="val 5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6766560" y="330098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E5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Depois: 2 exercícios (corrigido)</a:t>
            </a:r>
            <a:endParaRPr lang="en-US" sz="1100" dirty="0"/>
          </a:p>
        </p:txBody>
      </p:sp>
      <p:sp>
        <p:nvSpPr>
          <p:cNvPr id="24" name="Decisão"/>
          <p:cNvSpPr/>
          <p:nvPr/>
        </p:nvSpPr>
        <p:spPr>
          <a:xfrm>
            <a:off x="640080" y="3895344"/>
            <a:ext cx="10881360" cy="1051560"/>
          </a:xfrm>
          <a:prstGeom prst="roundRect">
            <a:avLst>
              <a:gd name="adj" fmla="val 19130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5" name="Ícone"/>
          <p:cNvSpPr/>
          <p:nvPr/>
        </p:nvSpPr>
        <p:spPr>
          <a:xfrm>
            <a:off x="868680" y="4123944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26" name="Image 2" descr="minu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439" y="4254703"/>
            <a:ext cx="332842" cy="332842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691640" y="39867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Donut sem número no centro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1691640" y="435254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Menos ruído: o gráfico já diz o essencial.</a:t>
            </a:r>
            <a:endParaRPr lang="en-US" sz="1150" dirty="0"/>
          </a:p>
        </p:txBody>
      </p:sp>
      <p:sp>
        <p:nvSpPr>
          <p:cNvPr id="29" name="Etiqueta"/>
          <p:cNvSpPr/>
          <p:nvPr/>
        </p:nvSpPr>
        <p:spPr>
          <a:xfrm>
            <a:off x="6766560" y="4078224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FBDCC4"/>
          </a:solidFill>
          <a:ln w="12700">
            <a:solidFill>
              <a:srgbClr val="FBDCC4">
                <a:alpha val="0"/>
              </a:srgbClr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766560" y="407822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Antes: Número no centro</a:t>
            </a:r>
            <a:endParaRPr lang="en-US" sz="1100" dirty="0"/>
          </a:p>
        </p:txBody>
      </p:sp>
      <p:sp>
        <p:nvSpPr>
          <p:cNvPr id="31" name="Etiqueta"/>
          <p:cNvSpPr/>
          <p:nvPr/>
        </p:nvSpPr>
        <p:spPr>
          <a:xfrm>
            <a:off x="6766560" y="4471416"/>
            <a:ext cx="4023360" cy="310896"/>
          </a:xfrm>
          <a:prstGeom prst="roundRect">
            <a:avLst>
              <a:gd name="adj" fmla="val 5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6766560" y="447141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E5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Depois: Centro limpo</a:t>
            </a:r>
            <a:endParaRPr lang="en-US" sz="1100" dirty="0"/>
          </a:p>
        </p:txBody>
      </p:sp>
      <p:sp>
        <p:nvSpPr>
          <p:cNvPr id="33" name="Decisão"/>
          <p:cNvSpPr/>
          <p:nvPr/>
        </p:nvSpPr>
        <p:spPr>
          <a:xfrm>
            <a:off x="640080" y="5065776"/>
            <a:ext cx="10881360" cy="1051560"/>
          </a:xfrm>
          <a:prstGeom prst="roundRect">
            <a:avLst>
              <a:gd name="adj" fmla="val 19130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34" name="Ícone"/>
          <p:cNvSpPr/>
          <p:nvPr/>
        </p:nvSpPr>
        <p:spPr>
          <a:xfrm>
            <a:off x="868680" y="5294376"/>
            <a:ext cx="594360" cy="59436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35" name="Image 3" descr="dropl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439" y="5425135"/>
            <a:ext cx="332842" cy="332842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1691640" y="51572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Ciclo menstrual no Progresso</a:t>
            </a:r>
            <a:endParaRPr lang="en-US" sz="1400" dirty="0"/>
          </a:p>
        </p:txBody>
      </p:sp>
      <p:sp>
        <p:nvSpPr>
          <p:cNvPr id="37" name="Text 31"/>
          <p:cNvSpPr txBox="1"/>
          <p:nvPr/>
        </p:nvSpPr>
        <p:spPr>
          <a:xfrm>
            <a:off x="1691640" y="552297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Ligar o treino à energia ao longo do mês, com sugestões por fase.</a:t>
            </a:r>
            <a:endParaRPr lang="en-US" sz="1150" dirty="0"/>
          </a:p>
        </p:txBody>
      </p:sp>
      <p:sp>
        <p:nvSpPr>
          <p:cNvPr id="38" name="Etiqueta"/>
          <p:cNvSpPr/>
          <p:nvPr/>
        </p:nvSpPr>
        <p:spPr>
          <a:xfrm>
            <a:off x="6766560" y="5248656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FBDCC4"/>
          </a:solidFill>
          <a:ln w="12700">
            <a:solidFill>
              <a:srgbClr val="FBDCC4">
                <a:alpha val="0"/>
              </a:srgbClr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6766560" y="52486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Antes: Sem informação do ciclo</a:t>
            </a:r>
            <a:endParaRPr lang="en-US" sz="1100" dirty="0"/>
          </a:p>
        </p:txBody>
      </p:sp>
      <p:sp>
        <p:nvSpPr>
          <p:cNvPr id="40" name="Etiqueta"/>
          <p:cNvSpPr/>
          <p:nvPr/>
        </p:nvSpPr>
        <p:spPr>
          <a:xfrm>
            <a:off x="6766560" y="5641848"/>
            <a:ext cx="4023360" cy="310896"/>
          </a:xfrm>
          <a:prstGeom prst="roundRect">
            <a:avLst>
              <a:gd name="adj" fmla="val 5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6766560" y="564184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E5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Depois: Calendário por fases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PROCESSO E A IA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meu papel e o da IA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Eu"/>
          <p:cNvSpPr/>
          <p:nvPr/>
        </p:nvSpPr>
        <p:spPr>
          <a:xfrm>
            <a:off x="640080" y="1554480"/>
            <a:ext cx="6126480" cy="4297680"/>
          </a:xfrm>
          <a:prstGeom prst="roundRect">
            <a:avLst>
              <a:gd name="adj" fmla="val 4681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7" name="Ícone"/>
          <p:cNvSpPr/>
          <p:nvPr/>
        </p:nvSpPr>
        <p:spPr>
          <a:xfrm>
            <a:off x="914400" y="178308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pic>
        <p:nvPicPr>
          <p:cNvPr id="8" name="Image 0" descr="us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218" y="1923898"/>
            <a:ext cx="358445" cy="35844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8308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fiz eu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2697480"/>
            <a:ext cx="5577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Identifiquei o problema e as dificuldades de quem treina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Defini objetivos, funcionalidades e organização da informação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Tomei as decisões de UX, de conteúdo e de tom de voz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Testei cada versão no telemóvel e rejeitei ideias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Recolhi feedback das utilizadoras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Geri o projeto: base de dados, publicação e instalação</a:t>
            </a:r>
            <a:endParaRPr lang="en-US" sz="13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Defini a regra: o treino de uma pessoa nunca interfere com o das outras</a:t>
            </a:r>
            <a:endParaRPr lang="en-US" sz="1350" dirty="0"/>
          </a:p>
        </p:txBody>
      </p:sp>
      <p:sp>
        <p:nvSpPr>
          <p:cNvPr id="11" name="IA"/>
          <p:cNvSpPr/>
          <p:nvPr/>
        </p:nvSpPr>
        <p:spPr>
          <a:xfrm>
            <a:off x="7040880" y="1554480"/>
            <a:ext cx="4480560" cy="4297680"/>
          </a:xfrm>
          <a:prstGeom prst="roundRect">
            <a:avLst>
              <a:gd name="adj" fmla="val 4681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2" name="Ícone"/>
          <p:cNvSpPr/>
          <p:nvPr/>
        </p:nvSpPr>
        <p:spPr>
          <a:xfrm>
            <a:off x="7315200" y="178308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pic>
        <p:nvPicPr>
          <p:cNvPr id="13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018" y="1923898"/>
            <a:ext cx="358445" cy="35844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183880" y="1965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fez a IA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7315200" y="2697480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Escreveu e testou o código (HTML, CSS e JavaScript) e a base de dados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Propôs soluções quando lhe pedi</a:t>
            </a:r>
            <a:endParaRPr lang="en-US" sz="15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Eu escolhi e corrigi o rumo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59436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Sem experiência em código, o meu valor esteve em perguntar o que as utilizadoras precisam, decidir o que fica e o que sai, e perceber quando algo não está bem.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IMPACTO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dizem as utilizadoras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Testemunho"/>
          <p:cNvSpPr/>
          <p:nvPr/>
        </p:nvSpPr>
        <p:spPr>
          <a:xfrm>
            <a:off x="640080" y="1645920"/>
            <a:ext cx="5394960" cy="2057400"/>
          </a:xfrm>
          <a:prstGeom prst="roundRect">
            <a:avLst>
              <a:gd name="adj" fmla="val 9778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7" name="Aspas"/>
          <p:cNvSpPr/>
          <p:nvPr/>
        </p:nvSpPr>
        <p:spPr>
          <a:xfrm>
            <a:off x="868680" y="1874520"/>
            <a:ext cx="548640" cy="548640"/>
          </a:xfrm>
          <a:prstGeom prst="roundRect">
            <a:avLst>
              <a:gd name="adj" fmla="val 33333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1901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187452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mudou a minha forma de ver o ginásio, agora já não é um bicho de 7 cabeças!</a:t>
            </a:r>
            <a:endParaRPr lang="en-US" sz="1600" dirty="0"/>
          </a:p>
        </p:txBody>
      </p:sp>
      <p:sp>
        <p:nvSpPr>
          <p:cNvPr id="10" name="Testemunho"/>
          <p:cNvSpPr/>
          <p:nvPr/>
        </p:nvSpPr>
        <p:spPr>
          <a:xfrm>
            <a:off x="6126480" y="1645920"/>
            <a:ext cx="5394960" cy="2057400"/>
          </a:xfrm>
          <a:prstGeom prst="roundRect">
            <a:avLst>
              <a:gd name="adj" fmla="val 9778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1" name="Aspas"/>
          <p:cNvSpPr/>
          <p:nvPr/>
        </p:nvSpPr>
        <p:spPr>
          <a:xfrm>
            <a:off x="6355080" y="1874520"/>
            <a:ext cx="548640" cy="548640"/>
          </a:xfrm>
          <a:prstGeom prst="roundRect">
            <a:avLst>
              <a:gd name="adj" fmla="val 33333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1901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187452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Agora quase que só tenho que me preocupar em executar bem os exercícios... sei o que fazer todos os dias e com facilidade.</a:t>
            </a:r>
            <a:endParaRPr lang="en-US" sz="1600" dirty="0"/>
          </a:p>
        </p:txBody>
      </p:sp>
      <p:sp>
        <p:nvSpPr>
          <p:cNvPr id="14" name="Testemunho"/>
          <p:cNvSpPr/>
          <p:nvPr/>
        </p:nvSpPr>
        <p:spPr>
          <a:xfrm>
            <a:off x="640080" y="3886200"/>
            <a:ext cx="5394960" cy="2057400"/>
          </a:xfrm>
          <a:prstGeom prst="roundRect">
            <a:avLst>
              <a:gd name="adj" fmla="val 9778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5" name="Aspas"/>
          <p:cNvSpPr/>
          <p:nvPr/>
        </p:nvSpPr>
        <p:spPr>
          <a:xfrm>
            <a:off x="868680" y="4114800"/>
            <a:ext cx="548640" cy="548640"/>
          </a:xfrm>
          <a:prstGeom prst="roundRect">
            <a:avLst>
              <a:gd name="adj" fmla="val 33333"/>
            </a:avLst>
          </a:prstGeom>
          <a:solidFill>
            <a:srgbClr val="FBDCC4"/>
          </a:solidFill>
          <a:ln w="12700">
            <a:solidFill>
              <a:srgbClr val="FBDCC4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142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11480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Sinto-me mais motivada para ir ao ginásio com uma app tão bonita!</a:t>
            </a:r>
            <a:endParaRPr lang="en-US" sz="1600" dirty="0"/>
          </a:p>
        </p:txBody>
      </p:sp>
      <p:sp>
        <p:nvSpPr>
          <p:cNvPr id="18" name="Testemunho"/>
          <p:cNvSpPr/>
          <p:nvPr/>
        </p:nvSpPr>
        <p:spPr>
          <a:xfrm>
            <a:off x="6126480" y="3886200"/>
            <a:ext cx="5394960" cy="2057400"/>
          </a:xfrm>
          <a:prstGeom prst="roundRect">
            <a:avLst>
              <a:gd name="adj" fmla="val 9778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9" name="Aspas"/>
          <p:cNvSpPr/>
          <p:nvPr/>
        </p:nvSpPr>
        <p:spPr>
          <a:xfrm>
            <a:off x="6355080" y="4114800"/>
            <a:ext cx="548640" cy="548640"/>
          </a:xfrm>
          <a:prstGeom prst="roundRect">
            <a:avLst>
              <a:gd name="adj" fmla="val 33333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4142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411480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life changer!!!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Cinco mulheres entre os 25 e os 65 anos usaram a app. Testemunhos reais, com a ortografia corrigida.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IMPACTO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Resultados iniciais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</a:t>
            </a:r>
            <a:endParaRPr lang="en-US" sz="1000" dirty="0"/>
          </a:p>
        </p:txBody>
      </p:sp>
      <p:sp>
        <p:nvSpPr>
          <p:cNvPr id="6" name="Resultado"/>
          <p:cNvSpPr/>
          <p:nvPr/>
        </p:nvSpPr>
        <p:spPr>
          <a:xfrm>
            <a:off x="640080" y="1645920"/>
            <a:ext cx="2560320" cy="3108960"/>
          </a:xfrm>
          <a:prstGeom prst="roundRect">
            <a:avLst>
              <a:gd name="adj" fmla="val 7857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7" name="Ícone"/>
          <p:cNvSpPr/>
          <p:nvPr/>
        </p:nvSpPr>
        <p:spPr>
          <a:xfrm>
            <a:off x="868680" y="1874520"/>
            <a:ext cx="685800" cy="685800"/>
          </a:xfrm>
          <a:prstGeom prst="roundRect">
            <a:avLst>
              <a:gd name="adj" fmla="val 3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pic>
        <p:nvPicPr>
          <p:cNvPr id="8" name="Image 0" descr="calend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" y="2025396"/>
            <a:ext cx="384048" cy="384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868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Organização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3832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 treinos já estão planeados.</a:t>
            </a:r>
            <a:endParaRPr lang="en-US" sz="1400" dirty="0"/>
          </a:p>
        </p:txBody>
      </p:sp>
      <p:sp>
        <p:nvSpPr>
          <p:cNvPr id="11" name="Resultado"/>
          <p:cNvSpPr/>
          <p:nvPr/>
        </p:nvSpPr>
        <p:spPr>
          <a:xfrm>
            <a:off x="3383280" y="1645920"/>
            <a:ext cx="2560320" cy="3108960"/>
          </a:xfrm>
          <a:prstGeom prst="roundRect">
            <a:avLst>
              <a:gd name="adj" fmla="val 7857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2" name="Ícone"/>
          <p:cNvSpPr/>
          <p:nvPr/>
        </p:nvSpPr>
        <p:spPr>
          <a:xfrm>
            <a:off x="3611880" y="1874520"/>
            <a:ext cx="685800" cy="685800"/>
          </a:xfrm>
          <a:prstGeom prst="roundRect">
            <a:avLst>
              <a:gd name="adj" fmla="val 3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pic>
        <p:nvPicPr>
          <p:cNvPr id="13" name="Image 1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756" y="202539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1188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Eficiência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3611880" y="33832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Sabem qual é o exercício seguinte e que carga usar.</a:t>
            </a:r>
            <a:endParaRPr lang="en-US" sz="1400" dirty="0"/>
          </a:p>
        </p:txBody>
      </p:sp>
      <p:sp>
        <p:nvSpPr>
          <p:cNvPr id="16" name="Resultado"/>
          <p:cNvSpPr/>
          <p:nvPr/>
        </p:nvSpPr>
        <p:spPr>
          <a:xfrm>
            <a:off x="6126480" y="1645920"/>
            <a:ext cx="2560320" cy="3108960"/>
          </a:xfrm>
          <a:prstGeom prst="roundRect">
            <a:avLst>
              <a:gd name="adj" fmla="val 7857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7" name="Ícone"/>
          <p:cNvSpPr/>
          <p:nvPr/>
        </p:nvSpPr>
        <p:spPr>
          <a:xfrm>
            <a:off x="6355080" y="1874520"/>
            <a:ext cx="685800" cy="685800"/>
          </a:xfrm>
          <a:prstGeom prst="roundRect">
            <a:avLst>
              <a:gd name="adj" fmla="val 30000"/>
            </a:avLst>
          </a:prstGeom>
          <a:solidFill>
            <a:srgbClr val="FBDCC4"/>
          </a:solidFill>
          <a:ln w="12700">
            <a:solidFill>
              <a:srgbClr val="FBDCC4">
                <a:alpha val="0"/>
              </a:srgbClr>
            </a:solidFill>
            <a:prstDash val="solid"/>
          </a:ln>
        </p:spPr>
      </p:sp>
      <p:pic>
        <p:nvPicPr>
          <p:cNvPr id="18" name="Image 2" descr="tren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956" y="2025396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5508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Motivação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6355080" y="33832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aba Progresso ajuda a treinar com mais propósito.</a:t>
            </a:r>
            <a:endParaRPr lang="en-US" sz="1400" dirty="0"/>
          </a:p>
        </p:txBody>
      </p:sp>
      <p:sp>
        <p:nvSpPr>
          <p:cNvPr id="21" name="Resultado"/>
          <p:cNvSpPr/>
          <p:nvPr/>
        </p:nvSpPr>
        <p:spPr>
          <a:xfrm>
            <a:off x="8869680" y="1645920"/>
            <a:ext cx="2560320" cy="3108960"/>
          </a:xfrm>
          <a:prstGeom prst="roundRect">
            <a:avLst>
              <a:gd name="adj" fmla="val 7857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2" name="Ícone"/>
          <p:cNvSpPr/>
          <p:nvPr/>
        </p:nvSpPr>
        <p:spPr>
          <a:xfrm>
            <a:off x="9098280" y="1874520"/>
            <a:ext cx="685800" cy="685800"/>
          </a:xfrm>
          <a:prstGeom prst="roundRect">
            <a:avLst>
              <a:gd name="adj" fmla="val 3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pic>
        <p:nvPicPr>
          <p:cNvPr id="23" name="Image 3" descr="sparkl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9156" y="2025396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098280" y="27889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Experiência visual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9098280" y="33832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estética foi referida como fator positivo.</a:t>
            </a:r>
            <a:endParaRPr lang="en-US" sz="1400" dirty="0"/>
          </a:p>
        </p:txBody>
      </p:sp>
      <p:sp>
        <p:nvSpPr>
          <p:cNvPr id="26" name="Nota"/>
          <p:cNvSpPr/>
          <p:nvPr/>
        </p:nvSpPr>
        <p:spPr>
          <a:xfrm>
            <a:off x="640080" y="5120640"/>
            <a:ext cx="10881360" cy="1005840"/>
          </a:xfrm>
          <a:prstGeom prst="roundRect">
            <a:avLst>
              <a:gd name="adj" fmla="val 20000"/>
            </a:avLst>
          </a:prstGeom>
          <a:solidFill>
            <a:srgbClr val="FBDCC4">
              <a:alpha val="65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pic>
        <p:nvPicPr>
          <p:cNvPr id="27" name="Image 4" descr="inf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440680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645920" y="53035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São resultados qualitativos de cinco utilizadoras. Não são um estudo formal nem prova de que a app serve a todas.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IMPACTO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que correu mal e o que aprendi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26</a:t>
            </a:r>
            <a:endParaRPr lang="en-US" sz="1000" dirty="0"/>
          </a:p>
        </p:txBody>
      </p:sp>
      <p:sp>
        <p:nvSpPr>
          <p:cNvPr id="6" name="Aprendizagem"/>
          <p:cNvSpPr/>
          <p:nvPr/>
        </p:nvSpPr>
        <p:spPr>
          <a:xfrm>
            <a:off x="640080" y="1508760"/>
            <a:ext cx="10881360" cy="822960"/>
          </a:xfrm>
          <a:prstGeom prst="roundRect">
            <a:avLst>
              <a:gd name="adj" fmla="val 24444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7" name="Ícone"/>
          <p:cNvSpPr/>
          <p:nvPr/>
        </p:nvSpPr>
        <p:spPr>
          <a:xfrm>
            <a:off x="822960" y="1645920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8" name="Image 0" descr="penci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61" y="1766621"/>
            <a:ext cx="307238" cy="30723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56362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Desenhos doodle em cada exercício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1563624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ideia foi minha, a IA desenhou e eu não gostei. Retirámos tudo. Aprendi a validar o estilo com amostras antes de produzir.</a:t>
            </a:r>
            <a:endParaRPr lang="en-US" sz="1250" dirty="0"/>
          </a:p>
        </p:txBody>
      </p:sp>
      <p:sp>
        <p:nvSpPr>
          <p:cNvPr id="11" name="Aprendizagem"/>
          <p:cNvSpPr/>
          <p:nvPr/>
        </p:nvSpPr>
        <p:spPr>
          <a:xfrm>
            <a:off x="640080" y="2441448"/>
            <a:ext cx="10881360" cy="822960"/>
          </a:xfrm>
          <a:prstGeom prst="roundRect">
            <a:avLst>
              <a:gd name="adj" fmla="val 24444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2" name="Ícone"/>
          <p:cNvSpPr/>
          <p:nvPr/>
        </p:nvSpPr>
        <p:spPr>
          <a:xfrm>
            <a:off x="822960" y="2578608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13" name="Image 1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2699309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554480" y="24963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contagem do donut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4846320" y="2496312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Contava 3 exercícios de tríceps onde eram 2. O número tem de bater com a realidade de quem o lê.</a:t>
            </a:r>
            <a:endParaRPr lang="en-US" sz="1250" dirty="0"/>
          </a:p>
        </p:txBody>
      </p:sp>
      <p:sp>
        <p:nvSpPr>
          <p:cNvPr id="16" name="Aprendizagem"/>
          <p:cNvSpPr/>
          <p:nvPr/>
        </p:nvSpPr>
        <p:spPr>
          <a:xfrm>
            <a:off x="640080" y="3374136"/>
            <a:ext cx="10881360" cy="822960"/>
          </a:xfrm>
          <a:prstGeom prst="roundRect">
            <a:avLst>
              <a:gd name="adj" fmla="val 24444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7" name="Ícone"/>
          <p:cNvSpPr/>
          <p:nvPr/>
        </p:nvSpPr>
        <p:spPr>
          <a:xfrm>
            <a:off x="822960" y="3511296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18" name="Image 2" descr="mo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1" y="3631997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54480" y="3429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aba do Sono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4846320" y="342900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Saiu para dar lugar ao Perfil. Aprendi a questionar o que cada funcionalidade acrescenta ao objetivo do produto.</a:t>
            </a:r>
            <a:endParaRPr lang="en-US" sz="1250" dirty="0"/>
          </a:p>
        </p:txBody>
      </p:sp>
      <p:sp>
        <p:nvSpPr>
          <p:cNvPr id="21" name="Aprendizagem"/>
          <p:cNvSpPr/>
          <p:nvPr/>
        </p:nvSpPr>
        <p:spPr>
          <a:xfrm>
            <a:off x="640080" y="4306824"/>
            <a:ext cx="10881360" cy="822960"/>
          </a:xfrm>
          <a:prstGeom prst="roundRect">
            <a:avLst>
              <a:gd name="adj" fmla="val 24444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2" name="Ícone"/>
          <p:cNvSpPr/>
          <p:nvPr/>
        </p:nvSpPr>
        <p:spPr>
          <a:xfrm>
            <a:off x="822960" y="4443984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F3EFFA"/>
          </a:solidFill>
          <a:ln w="12700">
            <a:solidFill>
              <a:srgbClr val="F3EFFA">
                <a:alpha val="0"/>
              </a:srgbClr>
            </a:solidFill>
            <a:prstDash val="solid"/>
          </a:ln>
        </p:spPr>
      </p:sp>
      <p:pic>
        <p:nvPicPr>
          <p:cNvPr id="23" name="Image 3" descr="lo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661" y="4564685"/>
            <a:ext cx="307238" cy="30723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554480" y="43616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Treinos misturados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4846320" y="4361688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regra de isolamento obrigou a uma estrutura separada para cada tipo de plano.</a:t>
            </a:r>
            <a:endParaRPr lang="en-US" sz="1250" dirty="0"/>
          </a:p>
        </p:txBody>
      </p:sp>
      <p:sp>
        <p:nvSpPr>
          <p:cNvPr id="26" name="Aprendizagem"/>
          <p:cNvSpPr/>
          <p:nvPr/>
        </p:nvSpPr>
        <p:spPr>
          <a:xfrm>
            <a:off x="640080" y="5239512"/>
            <a:ext cx="10881360" cy="822960"/>
          </a:xfrm>
          <a:prstGeom prst="roundRect">
            <a:avLst>
              <a:gd name="adj" fmla="val 24444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7" name="Ícone"/>
          <p:cNvSpPr/>
          <p:nvPr/>
        </p:nvSpPr>
        <p:spPr>
          <a:xfrm>
            <a:off x="822960" y="5376672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C6E8DC"/>
          </a:solidFill>
          <a:ln w="12700">
            <a:solidFill>
              <a:srgbClr val="C6E8DC">
                <a:alpha val="0"/>
              </a:srgbClr>
            </a:solidFill>
            <a:prstDash val="solid"/>
          </a:ln>
        </p:spPr>
      </p:sp>
      <p:pic>
        <p:nvPicPr>
          <p:cNvPr id="28" name="Image 4" descr="sparkle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661" y="5497373"/>
            <a:ext cx="307238" cy="30723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554480" y="52943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Lição geral</a:t>
            </a:r>
            <a:endParaRPr lang="en-US" sz="1350" dirty="0"/>
          </a:p>
        </p:txBody>
      </p:sp>
      <p:sp>
        <p:nvSpPr>
          <p:cNvPr id="30" name="Text 23"/>
          <p:cNvSpPr txBox="1"/>
          <p:nvPr/>
        </p:nvSpPr>
        <p:spPr>
          <a:xfrm>
            <a:off x="4846320" y="5294376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Feedback rápido de quem usa vale mais do que um design bem pensado mas não testado.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 AGORA?</a:t>
            </a:r>
            <a:endParaRPr lang="en-US" sz="1200" dirty="0"/>
          </a:p>
        </p:txBody>
      </p:sp>
      <p:sp>
        <p:nvSpPr>
          <p:cNvPr id="3" name="Título"/>
          <p:cNvSpPr txBox="1"/>
          <p:nvPr/>
        </p:nvSpPr>
        <p:spPr>
          <a:xfrm>
            <a:off x="640080" y="640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Limitações e próximos passos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46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NIJB · estudo de caso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46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Limitação"/>
          <p:cNvSpPr/>
          <p:nvPr/>
        </p:nvSpPr>
        <p:spPr>
          <a:xfrm>
            <a:off x="640080" y="1554480"/>
            <a:ext cx="10881360" cy="1188720"/>
          </a:xfrm>
          <a:prstGeom prst="roundRect">
            <a:avLst>
              <a:gd name="adj" fmla="val 16923"/>
            </a:avLst>
          </a:prstGeom>
          <a:solidFill>
            <a:srgbClr val="FBDCC4">
              <a:alpha val="65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pic>
        <p:nvPicPr>
          <p:cNvPr id="7" name="Image 0" descr="ale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202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91640" y="16459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Limitação atual: as utilizadoras externas ainda não conseguem criar e configurar sozinhas todos os planos e exercícios. Fui eu que criei as contas e personalizei os planos manualmente. Só podem acrescentar exercícios aos grupos que já existem.</a:t>
            </a:r>
            <a:endParaRPr lang="en-US" sz="1350" dirty="0"/>
          </a:p>
        </p:txBody>
      </p:sp>
      <p:sp>
        <p:nvSpPr>
          <p:cNvPr id="9" name="Passo"/>
          <p:cNvSpPr/>
          <p:nvPr/>
        </p:nvSpPr>
        <p:spPr>
          <a:xfrm>
            <a:off x="640080" y="3108960"/>
            <a:ext cx="2560320" cy="2926080"/>
          </a:xfrm>
          <a:prstGeom prst="roundRect">
            <a:avLst>
              <a:gd name="adj" fmla="val 7857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0" name="Ícone"/>
          <p:cNvSpPr/>
          <p:nvPr/>
        </p:nvSpPr>
        <p:spPr>
          <a:xfrm>
            <a:off x="868680" y="333756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pic>
        <p:nvPicPr>
          <p:cNvPr id="11" name="Image 1" descr="us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8" y="3478378"/>
            <a:ext cx="358445" cy="35844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68680" y="4160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Autonomia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868680" y="46177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utilizadora configura o perfil e personaliza o treino sem depender de mim.</a:t>
            </a:r>
            <a:endParaRPr lang="en-US" sz="1350" dirty="0"/>
          </a:p>
        </p:txBody>
      </p:sp>
      <p:sp>
        <p:nvSpPr>
          <p:cNvPr id="14" name="Passo"/>
          <p:cNvSpPr/>
          <p:nvPr/>
        </p:nvSpPr>
        <p:spPr>
          <a:xfrm>
            <a:off x="3383280" y="3108960"/>
            <a:ext cx="2560320" cy="2926080"/>
          </a:xfrm>
          <a:prstGeom prst="roundRect">
            <a:avLst>
              <a:gd name="adj" fmla="val 7857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15" name="Ícone"/>
          <p:cNvSpPr/>
          <p:nvPr/>
        </p:nvSpPr>
        <p:spPr>
          <a:xfrm>
            <a:off x="3611880" y="333756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pic>
        <p:nvPicPr>
          <p:cNvPr id="16" name="Image 2" descr="pla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698" y="3478378"/>
            <a:ext cx="358445" cy="35844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611880" y="4160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Teste de usabilidade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3611880" y="46177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a 5 pessoas fora do grupo, com tarefas simples e medição do tempo.</a:t>
            </a:r>
            <a:endParaRPr lang="en-US" sz="1350" dirty="0"/>
          </a:p>
        </p:txBody>
      </p:sp>
      <p:sp>
        <p:nvSpPr>
          <p:cNvPr id="19" name="Passo"/>
          <p:cNvSpPr/>
          <p:nvPr/>
        </p:nvSpPr>
        <p:spPr>
          <a:xfrm>
            <a:off x="6126480" y="3108960"/>
            <a:ext cx="2560320" cy="2926080"/>
          </a:xfrm>
          <a:prstGeom prst="roundRect">
            <a:avLst>
              <a:gd name="adj" fmla="val 7857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0" name="Ícone"/>
          <p:cNvSpPr/>
          <p:nvPr/>
        </p:nvSpPr>
        <p:spPr>
          <a:xfrm>
            <a:off x="6355080" y="333756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pic>
        <p:nvPicPr>
          <p:cNvPr id="21" name="Image 3" descr="inf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898" y="3478378"/>
            <a:ext cx="358445" cy="35844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355080" y="4160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Acessibilidade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355080" y="46177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Rever contraste, tamanhos de texto e leitores de ecrã.</a:t>
            </a:r>
            <a:endParaRPr lang="en-US" sz="1350" dirty="0"/>
          </a:p>
        </p:txBody>
      </p:sp>
      <p:sp>
        <p:nvSpPr>
          <p:cNvPr id="24" name="Passo"/>
          <p:cNvSpPr/>
          <p:nvPr/>
        </p:nvSpPr>
        <p:spPr>
          <a:xfrm>
            <a:off x="8869680" y="3108960"/>
            <a:ext cx="2560320" cy="2926080"/>
          </a:xfrm>
          <a:prstGeom prst="roundRect">
            <a:avLst>
              <a:gd name="adj" fmla="val 7857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25" name="Ícone"/>
          <p:cNvSpPr/>
          <p:nvPr/>
        </p:nvSpPr>
        <p:spPr>
          <a:xfrm>
            <a:off x="9098280" y="3337560"/>
            <a:ext cx="640080" cy="640080"/>
          </a:xfrm>
          <a:prstGeom prst="roundRect">
            <a:avLst>
              <a:gd name="adj" fmla="val 3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pic>
        <p:nvPicPr>
          <p:cNvPr id="26" name="Image 4" descr="aler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098" y="3478378"/>
            <a:ext cx="358445" cy="35844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098280" y="4160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Ecrãs de erro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9098280" y="461772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5A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Mensagens mais claras quando a base de dados está em pausa.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tão final"/>
          <p:cNvSpPr/>
          <p:nvPr/>
        </p:nvSpPr>
        <p:spPr>
          <a:xfrm>
            <a:off x="2194560" y="1463040"/>
            <a:ext cx="7772400" cy="3840480"/>
          </a:xfrm>
          <a:prstGeom prst="roundRect">
            <a:avLst>
              <a:gd name="adj" fmla="val 9524"/>
            </a:avLst>
          </a:prstGeom>
          <a:solidFill>
            <a:srgbClr val="FFFDFB">
              <a:alpha val="78000"/>
            </a:srgbClr>
          </a:solidFill>
          <a:ln w="12700">
            <a:solidFill>
              <a:srgbClr val="FFFFFF">
                <a:alpha val="90000"/>
              </a:srgbClr>
            </a:solidFill>
            <a:prstDash val="solid"/>
          </a:ln>
          <a:effectLst>
            <a:outerShdw sx="100000" sy="100000" kx="0" ky="0" algn="bl" rotWithShape="0" blurRad="152400" dist="38100" dir="5400000">
              <a:srgbClr val="B5798E">
                <a:alpha val="16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2194560" y="19202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5798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Obrigada!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2194560" y="2926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3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ifs, just good butts</a:t>
            </a:r>
            <a:endParaRPr lang="en-US" sz="2000" dirty="0"/>
          </a:p>
        </p:txBody>
      </p:sp>
      <p:sp>
        <p:nvSpPr>
          <p:cNvPr id="5" name="Etiqueta"/>
          <p:cNvSpPr/>
          <p:nvPr/>
        </p:nvSpPr>
        <p:spPr>
          <a:xfrm>
            <a:off x="3794760" y="3977640"/>
            <a:ext cx="2194560" cy="411480"/>
          </a:xfrm>
          <a:prstGeom prst="roundRect">
            <a:avLst>
              <a:gd name="adj" fmla="val 50000"/>
            </a:avLst>
          </a:prstGeom>
          <a:solidFill>
            <a:srgbClr val="D9CFF0"/>
          </a:solidFill>
          <a:ln w="12700">
            <a:solidFill>
              <a:srgbClr val="D9CFF0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794760" y="3977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63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[O teu nome]</a:t>
            </a:r>
            <a:endParaRPr lang="en-US" sz="1100" dirty="0"/>
          </a:p>
        </p:txBody>
      </p:sp>
      <p:sp>
        <p:nvSpPr>
          <p:cNvPr id="7" name="Etiqueta"/>
          <p:cNvSpPr/>
          <p:nvPr/>
        </p:nvSpPr>
        <p:spPr>
          <a:xfrm>
            <a:off x="6217920" y="3977640"/>
            <a:ext cx="2194560" cy="411480"/>
          </a:xfrm>
          <a:prstGeom prst="roundRect">
            <a:avLst>
              <a:gd name="adj" fmla="val 50000"/>
            </a:avLst>
          </a:prstGeom>
          <a:solidFill>
            <a:srgbClr val="F5C6D8"/>
          </a:solidFill>
          <a:ln w="12700">
            <a:solidFill>
              <a:srgbClr val="F5C6D8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0" y="3977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5F7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[O teu contacto]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4663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9B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 capturas de ecrã usam dados fictícios.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NIJB: estudo de caso (versão completa)</dc:title>
  <dc:subject>PptxGenJS Presentation</dc:subject>
  <dc:creator>PptxGenJS</dc:creator>
  <cp:lastModifiedBy>PptxGenJS</cp:lastModifiedBy>
  <cp:revision>1</cp:revision>
  <dcterms:created xsi:type="dcterms:W3CDTF">2026-10-27T23:52:15Z</dcterms:created>
  <dcterms:modified xsi:type="dcterms:W3CDTF">2026-10-27T23:52:15Z</dcterms:modified>
</cp:coreProperties>
</file>